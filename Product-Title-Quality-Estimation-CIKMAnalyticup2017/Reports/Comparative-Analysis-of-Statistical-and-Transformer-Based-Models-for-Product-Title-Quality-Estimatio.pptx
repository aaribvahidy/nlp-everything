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4630400" cy="8229600"/>
  <p:notesSz cx="8229600" cy="14630400"/>
  <p:embeddedFontLst>
    <p:embeddedFont>
      <p:font typeface="Instrument Sans Medium" panose="020B0604020202020204" charset="0"/>
      <p:regular r:id="rId10"/>
    </p:embeddedFont>
    <p:embeddedFont>
      <p:font typeface="Inter"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4" d="100"/>
          <a:sy n="54" d="100"/>
        </p:scale>
        <p:origin x="71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3329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svg"/><Relationship Id="rId12"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svg"/><Relationship Id="rId10" Type="http://schemas.openxmlformats.org/officeDocument/2006/relationships/image" Target="../media/image3.png"/><Relationship Id="rId4" Type="http://schemas.openxmlformats.org/officeDocument/2006/relationships/image" Target="../media/image18.png"/><Relationship Id="rId9" Type="http://schemas.openxmlformats.org/officeDocument/2006/relationships/image" Target="../media/image23.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941671"/>
            <a:ext cx="7556421" cy="2835116"/>
          </a:xfrm>
          <a:prstGeom prst="rect">
            <a:avLst/>
          </a:prstGeom>
          <a:noFill/>
          <a:ln/>
        </p:spPr>
        <p:txBody>
          <a:bodyPr wrap="square" lIns="0" tIns="0" rIns="0" bIns="0" rtlCol="0" anchor="t"/>
          <a:lstStyle/>
          <a:p>
            <a:pPr marL="0" indent="0" algn="l">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Comparative Analysis of Statistical and Transformer-Based Models for Product Title Quality Estimation</a:t>
            </a:r>
            <a:endParaRPr lang="en-US" sz="4450" dirty="0"/>
          </a:p>
        </p:txBody>
      </p:sp>
      <p:sp>
        <p:nvSpPr>
          <p:cNvPr id="4" name="Text 1"/>
          <p:cNvSpPr/>
          <p:nvPr/>
        </p:nvSpPr>
        <p:spPr>
          <a:xfrm>
            <a:off x="6280190" y="4867513"/>
            <a:ext cx="4344948" cy="354330"/>
          </a:xfrm>
          <a:prstGeom prst="rect">
            <a:avLst/>
          </a:prstGeom>
          <a:noFill/>
          <a:ln/>
        </p:spPr>
        <p:txBody>
          <a:bodyPr wrap="none" lIns="0" tIns="0" rIns="0" bIns="0" rtlCol="0" anchor="t"/>
          <a:lstStyle/>
          <a:p>
            <a:pPr marL="0" indent="0" algn="l">
              <a:lnSpc>
                <a:spcPts val="2750"/>
              </a:lnSpc>
              <a:buNone/>
            </a:pPr>
            <a:r>
              <a:rPr lang="en-US" sz="2200" dirty="0">
                <a:solidFill>
                  <a:srgbClr val="EFD5FA"/>
                </a:solidFill>
                <a:latin typeface="Instrument Sans Medium" pitchFamily="34" charset="0"/>
                <a:ea typeface="Instrument Sans Medium" pitchFamily="34" charset="-122"/>
                <a:cs typeface="Instrument Sans Medium" pitchFamily="34" charset="-120"/>
              </a:rPr>
              <a:t>CIKM AnalytiCup 2017 Challenge</a:t>
            </a:r>
            <a:endParaRPr lang="en-US" sz="2200" dirty="0"/>
          </a:p>
        </p:txBody>
      </p:sp>
      <p:sp>
        <p:nvSpPr>
          <p:cNvPr id="5" name="Text 2"/>
          <p:cNvSpPr/>
          <p:nvPr/>
        </p:nvSpPr>
        <p:spPr>
          <a:xfrm>
            <a:off x="6280190" y="5562005"/>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Aarib Ahmed Vahidy, Partham Chawla, Arham Hussain Khan (FAST NUCES)</a:t>
            </a:r>
            <a:endParaRPr lang="en-US" sz="1750" dirty="0"/>
          </a:p>
        </p:txBody>
      </p:sp>
      <p:pic>
        <p:nvPicPr>
          <p:cNvPr id="7" name="Picture 6" descr="A blue and white logo&#10;&#10;AI-generated content may be incorrect.">
            <a:extLst>
              <a:ext uri="{FF2B5EF4-FFF2-40B4-BE49-F238E27FC236}">
                <a16:creationId xmlns:a16="http://schemas.microsoft.com/office/drawing/2014/main" id="{57459C7F-088A-CBE1-C3FB-2F095349B504}"/>
              </a:ext>
            </a:extLst>
          </p:cNvPr>
          <p:cNvPicPr>
            <a:picLocks noChangeAspect="1"/>
          </p:cNvPicPr>
          <p:nvPr/>
        </p:nvPicPr>
        <p:blipFill>
          <a:blip r:embed="rId4"/>
          <a:stretch>
            <a:fillRect/>
          </a:stretch>
        </p:blipFill>
        <p:spPr>
          <a:xfrm>
            <a:off x="12290961" y="7618156"/>
            <a:ext cx="2339439" cy="6114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841063"/>
            <a:ext cx="10978991" cy="708779"/>
          </a:xfrm>
          <a:prstGeom prst="rect">
            <a:avLst/>
          </a:prstGeom>
          <a:noFill/>
          <a:ln/>
        </p:spPr>
        <p:txBody>
          <a:bodyPr wrap="none" lIns="0" tIns="0" rIns="0" bIns="0" rtlCol="0" anchor="t"/>
          <a:lstStyle/>
          <a:p>
            <a:pPr marL="0" indent="0" algn="l">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The Challenge: Cleaning Up E-Commerce</a:t>
            </a:r>
            <a:endParaRPr lang="en-US" sz="4450" dirty="0"/>
          </a:p>
        </p:txBody>
      </p:sp>
      <p:sp>
        <p:nvSpPr>
          <p:cNvPr id="3" name="Text 1"/>
          <p:cNvSpPr/>
          <p:nvPr/>
        </p:nvSpPr>
        <p:spPr>
          <a:xfrm>
            <a:off x="793790" y="3003471"/>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The rapid expansion of e-commerce platforms has led to an overwhelming influx of product data. Unfortunately, a significant portion of this data includes spammy, inconsistent, and poorly structured product titles. This digital clutter creates a frustrating user experience and can severely impact conversion rates.</a:t>
            </a:r>
            <a:endParaRPr lang="en-US" sz="1750" dirty="0"/>
          </a:p>
        </p:txBody>
      </p:sp>
      <p:sp>
        <p:nvSpPr>
          <p:cNvPr id="4" name="Text 2"/>
          <p:cNvSpPr/>
          <p:nvPr/>
        </p:nvSpPr>
        <p:spPr>
          <a:xfrm>
            <a:off x="793790" y="434732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Our primary goal was to automatically predict two crucial quality scores for product titles:</a:t>
            </a:r>
            <a:endParaRPr lang="en-US" sz="1750" dirty="0"/>
          </a:p>
        </p:txBody>
      </p:sp>
      <p:sp>
        <p:nvSpPr>
          <p:cNvPr id="5" name="Text 3"/>
          <p:cNvSpPr/>
          <p:nvPr/>
        </p:nvSpPr>
        <p:spPr>
          <a:xfrm>
            <a:off x="793790" y="4965383"/>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C7CDD6"/>
                </a:solidFill>
                <a:latin typeface="Inter" pitchFamily="34" charset="0"/>
                <a:ea typeface="Inter" pitchFamily="34" charset="-122"/>
                <a:cs typeface="Inter" pitchFamily="34" charset="-120"/>
              </a:rPr>
              <a:t>Clarity:</a:t>
            </a:r>
            <a:r>
              <a:rPr lang="en-US" sz="1750" dirty="0">
                <a:solidFill>
                  <a:srgbClr val="C7CDD6"/>
                </a:solidFill>
                <a:latin typeface="Inter" pitchFamily="34" charset="0"/>
                <a:ea typeface="Inter" pitchFamily="34" charset="-122"/>
                <a:cs typeface="Inter" pitchFamily="34" charset="-120"/>
              </a:rPr>
              <a:t> Assessing how understandable and well-formed a title is.</a:t>
            </a:r>
            <a:endParaRPr lang="en-US" sz="1750" dirty="0"/>
          </a:p>
        </p:txBody>
      </p:sp>
      <p:sp>
        <p:nvSpPr>
          <p:cNvPr id="6" name="Text 4"/>
          <p:cNvSpPr/>
          <p:nvPr/>
        </p:nvSpPr>
        <p:spPr>
          <a:xfrm>
            <a:off x="793790" y="5407581"/>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C7CDD6"/>
                </a:solidFill>
                <a:latin typeface="Inter" pitchFamily="34" charset="0"/>
                <a:ea typeface="Inter" pitchFamily="34" charset="-122"/>
                <a:cs typeface="Inter" pitchFamily="34" charset="-120"/>
              </a:rPr>
              <a:t>Conciseness:</a:t>
            </a:r>
            <a:r>
              <a:rPr lang="en-US" sz="1750" dirty="0">
                <a:solidFill>
                  <a:srgbClr val="C7CDD6"/>
                </a:solidFill>
                <a:latin typeface="Inter" pitchFamily="34" charset="0"/>
                <a:ea typeface="Inter" pitchFamily="34" charset="-122"/>
                <a:cs typeface="Inter" pitchFamily="34" charset="-120"/>
              </a:rPr>
              <a:t> Evaluating redundancy and brevity.</a:t>
            </a:r>
            <a:endParaRPr lang="en-US" sz="1750" dirty="0"/>
          </a:p>
        </p:txBody>
      </p:sp>
      <p:sp>
        <p:nvSpPr>
          <p:cNvPr id="7" name="Text 5"/>
          <p:cNvSpPr/>
          <p:nvPr/>
        </p:nvSpPr>
        <p:spPr>
          <a:xfrm>
            <a:off x="793790" y="6025634"/>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Ultimately, better titles lead to improved user experience and higher conversion rates for platforms.</a:t>
            </a:r>
            <a:endParaRPr lang="en-US" sz="1750" dirty="0"/>
          </a:p>
        </p:txBody>
      </p:sp>
      <p:pic>
        <p:nvPicPr>
          <p:cNvPr id="12" name="Picture 11" descr="A blue and white logo&#10;&#10;AI-generated content may be incorrect.">
            <a:extLst>
              <a:ext uri="{FF2B5EF4-FFF2-40B4-BE49-F238E27FC236}">
                <a16:creationId xmlns:a16="http://schemas.microsoft.com/office/drawing/2014/main" id="{6B7E5934-77C3-56D3-F487-99873A2E22AB}"/>
              </a:ext>
            </a:extLst>
          </p:cNvPr>
          <p:cNvPicPr>
            <a:picLocks noChangeAspect="1"/>
          </p:cNvPicPr>
          <p:nvPr/>
        </p:nvPicPr>
        <p:blipFill>
          <a:blip r:embed="rId3"/>
          <a:stretch>
            <a:fillRect/>
          </a:stretch>
        </p:blipFill>
        <p:spPr>
          <a:xfrm>
            <a:off x="12290961" y="7618156"/>
            <a:ext cx="2339439" cy="61144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101929"/>
          </a:xfrm>
          <a:prstGeom prst="rect">
            <a:avLst/>
          </a:prstGeom>
        </p:spPr>
      </p:pic>
      <p:sp>
        <p:nvSpPr>
          <p:cNvPr id="3" name="Text 0"/>
          <p:cNvSpPr/>
          <p:nvPr/>
        </p:nvSpPr>
        <p:spPr>
          <a:xfrm>
            <a:off x="588526" y="2699028"/>
            <a:ext cx="6761678" cy="525423"/>
          </a:xfrm>
          <a:prstGeom prst="rect">
            <a:avLst/>
          </a:prstGeom>
          <a:noFill/>
          <a:ln/>
        </p:spPr>
        <p:txBody>
          <a:bodyPr wrap="none" lIns="0" tIns="0" rIns="0" bIns="0" rtlCol="0" anchor="t"/>
          <a:lstStyle/>
          <a:p>
            <a:pPr marL="0" indent="0" algn="l">
              <a:lnSpc>
                <a:spcPts val="4100"/>
              </a:lnSpc>
              <a:buNone/>
            </a:pPr>
            <a:r>
              <a:rPr lang="en-US" sz="3300" dirty="0">
                <a:solidFill>
                  <a:srgbClr val="EFD5FA"/>
                </a:solidFill>
                <a:latin typeface="Instrument Sans Medium" pitchFamily="34" charset="0"/>
                <a:ea typeface="Instrument Sans Medium" pitchFamily="34" charset="-122"/>
                <a:cs typeface="Instrument Sans Medium" pitchFamily="34" charset="-120"/>
              </a:rPr>
              <a:t>Dataset &amp; Evaluation Methodology</a:t>
            </a:r>
            <a:endParaRPr lang="en-US" sz="3300" dirty="0"/>
          </a:p>
        </p:txBody>
      </p:sp>
      <p:sp>
        <p:nvSpPr>
          <p:cNvPr id="4" name="Text 1"/>
          <p:cNvSpPr/>
          <p:nvPr/>
        </p:nvSpPr>
        <p:spPr>
          <a:xfrm>
            <a:off x="588526" y="3476625"/>
            <a:ext cx="13453348" cy="268962"/>
          </a:xfrm>
          <a:prstGeom prst="rect">
            <a:avLst/>
          </a:prstGeom>
          <a:noFill/>
          <a:ln/>
        </p:spPr>
        <p:txBody>
          <a:bodyPr wrap="none" lIns="0" tIns="0" rIns="0" bIns="0" rtlCol="0" anchor="t"/>
          <a:lstStyle/>
          <a:p>
            <a:pPr marL="0" indent="0" algn="l">
              <a:lnSpc>
                <a:spcPts val="2100"/>
              </a:lnSpc>
              <a:buNone/>
            </a:pPr>
            <a:r>
              <a:rPr lang="en-US" sz="1300" dirty="0">
                <a:solidFill>
                  <a:srgbClr val="C7CDD6"/>
                </a:solidFill>
                <a:latin typeface="Inter" pitchFamily="34" charset="0"/>
                <a:ea typeface="Inter" pitchFamily="34" charset="-122"/>
                <a:cs typeface="Inter" pitchFamily="34" charset="-120"/>
              </a:rPr>
              <a:t>To tackle this challenge, we leveraged a robust dataset and a standard evaluation metric.</a:t>
            </a:r>
            <a:endParaRPr lang="en-US" sz="1300" dirty="0"/>
          </a:p>
        </p:txBody>
      </p:sp>
      <p:sp>
        <p:nvSpPr>
          <p:cNvPr id="5" name="Shape 2"/>
          <p:cNvSpPr/>
          <p:nvPr/>
        </p:nvSpPr>
        <p:spPr>
          <a:xfrm>
            <a:off x="588526" y="4186833"/>
            <a:ext cx="6642616" cy="1512689"/>
          </a:xfrm>
          <a:prstGeom prst="roundRect">
            <a:avLst>
              <a:gd name="adj" fmla="val 7254"/>
            </a:avLst>
          </a:prstGeom>
          <a:solidFill>
            <a:srgbClr val="242429"/>
          </a:solidFill>
          <a:ln/>
        </p:spPr>
      </p:sp>
      <p:sp>
        <p:nvSpPr>
          <p:cNvPr id="6" name="Shape 3"/>
          <p:cNvSpPr/>
          <p:nvPr/>
        </p:nvSpPr>
        <p:spPr>
          <a:xfrm>
            <a:off x="588526" y="4163973"/>
            <a:ext cx="6642616" cy="91440"/>
          </a:xfrm>
          <a:prstGeom prst="roundRect">
            <a:avLst>
              <a:gd name="adj" fmla="val 27585"/>
            </a:avLst>
          </a:prstGeom>
          <a:solidFill>
            <a:srgbClr val="FDC4C4"/>
          </a:solidFill>
          <a:ln/>
        </p:spPr>
      </p:sp>
      <p:sp>
        <p:nvSpPr>
          <p:cNvPr id="7" name="Shape 4"/>
          <p:cNvSpPr/>
          <p:nvPr/>
        </p:nvSpPr>
        <p:spPr>
          <a:xfrm>
            <a:off x="3657540" y="3934658"/>
            <a:ext cx="504468" cy="504468"/>
          </a:xfrm>
          <a:prstGeom prst="roundRect">
            <a:avLst>
              <a:gd name="adj" fmla="val 181260"/>
            </a:avLst>
          </a:prstGeom>
          <a:solidFill>
            <a:srgbClr val="FDC4C4"/>
          </a:solidFill>
          <a:ln/>
        </p:spPr>
      </p:sp>
      <p:pic>
        <p:nvPicPr>
          <p:cNvPr id="8"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08869" y="4085987"/>
            <a:ext cx="201692" cy="201692"/>
          </a:xfrm>
          <a:prstGeom prst="rect">
            <a:avLst/>
          </a:prstGeom>
        </p:spPr>
      </p:pic>
      <p:sp>
        <p:nvSpPr>
          <p:cNvPr id="9" name="Text 5"/>
          <p:cNvSpPr/>
          <p:nvPr/>
        </p:nvSpPr>
        <p:spPr>
          <a:xfrm>
            <a:off x="779502" y="4607123"/>
            <a:ext cx="2101929" cy="262652"/>
          </a:xfrm>
          <a:prstGeom prst="rect">
            <a:avLst/>
          </a:prstGeom>
          <a:noFill/>
          <a:ln/>
        </p:spPr>
        <p:txBody>
          <a:bodyPr wrap="none" lIns="0" tIns="0" rIns="0" bIns="0" rtlCol="0" anchor="t"/>
          <a:lstStyle/>
          <a:p>
            <a:pPr marL="0" indent="0" algn="l">
              <a:lnSpc>
                <a:spcPts val="2050"/>
              </a:lnSpc>
              <a:buNone/>
            </a:pPr>
            <a:r>
              <a:rPr lang="en-US" sz="1650" dirty="0">
                <a:solidFill>
                  <a:srgbClr val="C7CDD6"/>
                </a:solidFill>
                <a:latin typeface="Instrument Sans Medium" pitchFamily="34" charset="0"/>
                <a:ea typeface="Instrument Sans Medium" pitchFamily="34" charset="-122"/>
                <a:cs typeface="Instrument Sans Medium" pitchFamily="34" charset="-120"/>
              </a:rPr>
              <a:t>Data Source</a:t>
            </a:r>
            <a:endParaRPr lang="en-US" sz="1650" dirty="0"/>
          </a:p>
        </p:txBody>
      </p:sp>
      <p:sp>
        <p:nvSpPr>
          <p:cNvPr id="10" name="Text 6"/>
          <p:cNvSpPr/>
          <p:nvPr/>
        </p:nvSpPr>
        <p:spPr>
          <a:xfrm>
            <a:off x="779502" y="4970621"/>
            <a:ext cx="6260663" cy="537924"/>
          </a:xfrm>
          <a:prstGeom prst="rect">
            <a:avLst/>
          </a:prstGeom>
          <a:noFill/>
          <a:ln/>
        </p:spPr>
        <p:txBody>
          <a:bodyPr wrap="square" lIns="0" tIns="0" rIns="0" bIns="0" rtlCol="0" anchor="t"/>
          <a:lstStyle/>
          <a:p>
            <a:pPr marL="0" indent="0" algn="l">
              <a:lnSpc>
                <a:spcPts val="2100"/>
              </a:lnSpc>
              <a:buNone/>
            </a:pPr>
            <a:r>
              <a:rPr lang="en-US" sz="1300" dirty="0">
                <a:solidFill>
                  <a:srgbClr val="C7CDD6"/>
                </a:solidFill>
                <a:latin typeface="Inter" pitchFamily="34" charset="0"/>
                <a:ea typeface="Inter" pitchFamily="34" charset="-122"/>
                <a:cs typeface="Inter" pitchFamily="34" charset="-120"/>
              </a:rPr>
              <a:t>The project utilized the CIKM AnalytiCup 2017 dataset, specifically focusing on Lazada Product Data, a real-world e-commerce dataset.</a:t>
            </a:r>
            <a:endParaRPr lang="en-US" sz="1300" dirty="0"/>
          </a:p>
        </p:txBody>
      </p:sp>
      <p:sp>
        <p:nvSpPr>
          <p:cNvPr id="11" name="Shape 7"/>
          <p:cNvSpPr/>
          <p:nvPr/>
        </p:nvSpPr>
        <p:spPr>
          <a:xfrm>
            <a:off x="7399258" y="4186833"/>
            <a:ext cx="6642616" cy="1512689"/>
          </a:xfrm>
          <a:prstGeom prst="roundRect">
            <a:avLst>
              <a:gd name="adj" fmla="val 7254"/>
            </a:avLst>
          </a:prstGeom>
          <a:solidFill>
            <a:srgbClr val="242429"/>
          </a:solidFill>
          <a:ln/>
        </p:spPr>
      </p:sp>
      <p:sp>
        <p:nvSpPr>
          <p:cNvPr id="12" name="Shape 8"/>
          <p:cNvSpPr/>
          <p:nvPr/>
        </p:nvSpPr>
        <p:spPr>
          <a:xfrm>
            <a:off x="7399258" y="4163973"/>
            <a:ext cx="6642616" cy="91440"/>
          </a:xfrm>
          <a:prstGeom prst="roundRect">
            <a:avLst>
              <a:gd name="adj" fmla="val 27585"/>
            </a:avLst>
          </a:prstGeom>
          <a:solidFill>
            <a:srgbClr val="FDC4C4"/>
          </a:solidFill>
          <a:ln/>
        </p:spPr>
      </p:sp>
      <p:sp>
        <p:nvSpPr>
          <p:cNvPr id="13" name="Shape 9"/>
          <p:cNvSpPr/>
          <p:nvPr/>
        </p:nvSpPr>
        <p:spPr>
          <a:xfrm>
            <a:off x="10468273" y="3934658"/>
            <a:ext cx="504468" cy="504468"/>
          </a:xfrm>
          <a:prstGeom prst="roundRect">
            <a:avLst>
              <a:gd name="adj" fmla="val 181260"/>
            </a:avLst>
          </a:prstGeom>
          <a:solidFill>
            <a:srgbClr val="FDC4C4"/>
          </a:solidFill>
          <a:ln/>
        </p:spPr>
      </p:sp>
      <p:pic>
        <p:nvPicPr>
          <p:cNvPr id="14"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19601" y="4085987"/>
            <a:ext cx="201692" cy="201692"/>
          </a:xfrm>
          <a:prstGeom prst="rect">
            <a:avLst/>
          </a:prstGeom>
        </p:spPr>
      </p:pic>
      <p:sp>
        <p:nvSpPr>
          <p:cNvPr id="15" name="Text 10"/>
          <p:cNvSpPr/>
          <p:nvPr/>
        </p:nvSpPr>
        <p:spPr>
          <a:xfrm>
            <a:off x="7590234" y="4607123"/>
            <a:ext cx="2101929" cy="262652"/>
          </a:xfrm>
          <a:prstGeom prst="rect">
            <a:avLst/>
          </a:prstGeom>
          <a:noFill/>
          <a:ln/>
        </p:spPr>
        <p:txBody>
          <a:bodyPr wrap="none" lIns="0" tIns="0" rIns="0" bIns="0" rtlCol="0" anchor="t"/>
          <a:lstStyle/>
          <a:p>
            <a:pPr marL="0" indent="0" algn="l">
              <a:lnSpc>
                <a:spcPts val="2050"/>
              </a:lnSpc>
              <a:buNone/>
            </a:pPr>
            <a:r>
              <a:rPr lang="en-US" sz="1650" dirty="0">
                <a:solidFill>
                  <a:srgbClr val="C7CDD6"/>
                </a:solidFill>
                <a:latin typeface="Instrument Sans Medium" pitchFamily="34" charset="0"/>
                <a:ea typeface="Instrument Sans Medium" pitchFamily="34" charset="-122"/>
                <a:cs typeface="Instrument Sans Medium" pitchFamily="34" charset="-120"/>
              </a:rPr>
              <a:t>Input Features</a:t>
            </a:r>
            <a:endParaRPr lang="en-US" sz="1650" dirty="0"/>
          </a:p>
        </p:txBody>
      </p:sp>
      <p:sp>
        <p:nvSpPr>
          <p:cNvPr id="16" name="Text 11"/>
          <p:cNvSpPr/>
          <p:nvPr/>
        </p:nvSpPr>
        <p:spPr>
          <a:xfrm>
            <a:off x="7590234" y="4970621"/>
            <a:ext cx="6260663" cy="537924"/>
          </a:xfrm>
          <a:prstGeom prst="rect">
            <a:avLst/>
          </a:prstGeom>
          <a:noFill/>
          <a:ln/>
        </p:spPr>
        <p:txBody>
          <a:bodyPr wrap="square" lIns="0" tIns="0" rIns="0" bIns="0" rtlCol="0" anchor="t"/>
          <a:lstStyle/>
          <a:p>
            <a:pPr marL="0" indent="0" algn="l">
              <a:lnSpc>
                <a:spcPts val="2100"/>
              </a:lnSpc>
              <a:buNone/>
            </a:pPr>
            <a:r>
              <a:rPr lang="en-US" sz="1300" dirty="0">
                <a:solidFill>
                  <a:srgbClr val="C7CDD6"/>
                </a:solidFill>
                <a:latin typeface="Inter" pitchFamily="34" charset="0"/>
                <a:ea typeface="Inter" pitchFamily="34" charset="-122"/>
                <a:cs typeface="Inter" pitchFamily="34" charset="-120"/>
              </a:rPr>
              <a:t>Our models processed several input features: the product title itself, its description, and relevant category metadata.</a:t>
            </a:r>
            <a:endParaRPr lang="en-US" sz="1300" dirty="0"/>
          </a:p>
        </p:txBody>
      </p:sp>
      <p:sp>
        <p:nvSpPr>
          <p:cNvPr id="17" name="Shape 12"/>
          <p:cNvSpPr/>
          <p:nvPr/>
        </p:nvSpPr>
        <p:spPr>
          <a:xfrm>
            <a:off x="588526" y="6119812"/>
            <a:ext cx="6642616" cy="1512689"/>
          </a:xfrm>
          <a:prstGeom prst="roundRect">
            <a:avLst>
              <a:gd name="adj" fmla="val 7254"/>
            </a:avLst>
          </a:prstGeom>
          <a:solidFill>
            <a:srgbClr val="242429"/>
          </a:solidFill>
          <a:ln/>
        </p:spPr>
      </p:sp>
      <p:sp>
        <p:nvSpPr>
          <p:cNvPr id="18" name="Shape 13"/>
          <p:cNvSpPr/>
          <p:nvPr/>
        </p:nvSpPr>
        <p:spPr>
          <a:xfrm>
            <a:off x="588526" y="6096953"/>
            <a:ext cx="6642616" cy="91440"/>
          </a:xfrm>
          <a:prstGeom prst="roundRect">
            <a:avLst>
              <a:gd name="adj" fmla="val 27585"/>
            </a:avLst>
          </a:prstGeom>
          <a:solidFill>
            <a:srgbClr val="FDC4C4"/>
          </a:solidFill>
          <a:ln/>
        </p:spPr>
      </p:sp>
      <p:sp>
        <p:nvSpPr>
          <p:cNvPr id="19" name="Shape 14"/>
          <p:cNvSpPr/>
          <p:nvPr/>
        </p:nvSpPr>
        <p:spPr>
          <a:xfrm>
            <a:off x="3657540" y="5867638"/>
            <a:ext cx="504468" cy="504468"/>
          </a:xfrm>
          <a:prstGeom prst="roundRect">
            <a:avLst>
              <a:gd name="adj" fmla="val 181260"/>
            </a:avLst>
          </a:prstGeom>
          <a:solidFill>
            <a:srgbClr val="FDC4C4"/>
          </a:solidFill>
          <a:ln/>
        </p:spPr>
      </p:sp>
      <p:pic>
        <p:nvPicPr>
          <p:cNvPr id="20"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08869" y="6018967"/>
            <a:ext cx="201692" cy="201692"/>
          </a:xfrm>
          <a:prstGeom prst="rect">
            <a:avLst/>
          </a:prstGeom>
        </p:spPr>
      </p:pic>
      <p:sp>
        <p:nvSpPr>
          <p:cNvPr id="21" name="Text 15"/>
          <p:cNvSpPr/>
          <p:nvPr/>
        </p:nvSpPr>
        <p:spPr>
          <a:xfrm>
            <a:off x="779502" y="6540103"/>
            <a:ext cx="2101929" cy="262652"/>
          </a:xfrm>
          <a:prstGeom prst="rect">
            <a:avLst/>
          </a:prstGeom>
          <a:noFill/>
          <a:ln/>
        </p:spPr>
        <p:txBody>
          <a:bodyPr wrap="none" lIns="0" tIns="0" rIns="0" bIns="0" rtlCol="0" anchor="t"/>
          <a:lstStyle/>
          <a:p>
            <a:pPr marL="0" indent="0" algn="l">
              <a:lnSpc>
                <a:spcPts val="2050"/>
              </a:lnSpc>
              <a:buNone/>
            </a:pPr>
            <a:r>
              <a:rPr lang="en-US" sz="1650" dirty="0">
                <a:solidFill>
                  <a:srgbClr val="C7CDD6"/>
                </a:solidFill>
                <a:latin typeface="Instrument Sans Medium" pitchFamily="34" charset="0"/>
                <a:ea typeface="Instrument Sans Medium" pitchFamily="34" charset="-122"/>
                <a:cs typeface="Instrument Sans Medium" pitchFamily="34" charset="-120"/>
              </a:rPr>
              <a:t>Target Labels</a:t>
            </a:r>
            <a:endParaRPr lang="en-US" sz="1650" dirty="0"/>
          </a:p>
        </p:txBody>
      </p:sp>
      <p:sp>
        <p:nvSpPr>
          <p:cNvPr id="22" name="Text 16"/>
          <p:cNvSpPr/>
          <p:nvPr/>
        </p:nvSpPr>
        <p:spPr>
          <a:xfrm>
            <a:off x="779502" y="6903601"/>
            <a:ext cx="6260663" cy="537924"/>
          </a:xfrm>
          <a:prstGeom prst="rect">
            <a:avLst/>
          </a:prstGeom>
          <a:noFill/>
          <a:ln/>
        </p:spPr>
        <p:txBody>
          <a:bodyPr wrap="square" lIns="0" tIns="0" rIns="0" bIns="0" rtlCol="0" anchor="t"/>
          <a:lstStyle/>
          <a:p>
            <a:pPr marL="0" indent="0" algn="l">
              <a:lnSpc>
                <a:spcPts val="2100"/>
              </a:lnSpc>
              <a:buNone/>
            </a:pPr>
            <a:r>
              <a:rPr lang="en-US" sz="1300" dirty="0">
                <a:solidFill>
                  <a:srgbClr val="C7CDD6"/>
                </a:solidFill>
                <a:latin typeface="Inter" pitchFamily="34" charset="0"/>
                <a:ea typeface="Inter" pitchFamily="34" charset="-122"/>
                <a:cs typeface="Inter" pitchFamily="34" charset="-120"/>
              </a:rPr>
              <a:t>Original binary labels (0 or 1) for clarity and conciseness were converted into continuous probability scores for more nuanced prediction.</a:t>
            </a:r>
            <a:endParaRPr lang="en-US" sz="1300" dirty="0"/>
          </a:p>
        </p:txBody>
      </p:sp>
      <p:sp>
        <p:nvSpPr>
          <p:cNvPr id="23" name="Shape 17"/>
          <p:cNvSpPr/>
          <p:nvPr/>
        </p:nvSpPr>
        <p:spPr>
          <a:xfrm>
            <a:off x="7399258" y="6119812"/>
            <a:ext cx="6642616" cy="1512689"/>
          </a:xfrm>
          <a:prstGeom prst="roundRect">
            <a:avLst>
              <a:gd name="adj" fmla="val 7254"/>
            </a:avLst>
          </a:prstGeom>
          <a:solidFill>
            <a:srgbClr val="242429"/>
          </a:solidFill>
          <a:ln/>
        </p:spPr>
      </p:sp>
      <p:sp>
        <p:nvSpPr>
          <p:cNvPr id="24" name="Shape 18"/>
          <p:cNvSpPr/>
          <p:nvPr/>
        </p:nvSpPr>
        <p:spPr>
          <a:xfrm>
            <a:off x="7399258" y="6096953"/>
            <a:ext cx="6642616" cy="91440"/>
          </a:xfrm>
          <a:prstGeom prst="roundRect">
            <a:avLst>
              <a:gd name="adj" fmla="val 27585"/>
            </a:avLst>
          </a:prstGeom>
          <a:solidFill>
            <a:srgbClr val="FDC4C4"/>
          </a:solidFill>
          <a:ln/>
        </p:spPr>
      </p:sp>
      <p:sp>
        <p:nvSpPr>
          <p:cNvPr id="25" name="Shape 19"/>
          <p:cNvSpPr/>
          <p:nvPr/>
        </p:nvSpPr>
        <p:spPr>
          <a:xfrm>
            <a:off x="10468273" y="5867638"/>
            <a:ext cx="504468" cy="504468"/>
          </a:xfrm>
          <a:prstGeom prst="roundRect">
            <a:avLst>
              <a:gd name="adj" fmla="val 181260"/>
            </a:avLst>
          </a:prstGeom>
          <a:solidFill>
            <a:srgbClr val="FDC4C4"/>
          </a:solidFill>
          <a:ln/>
        </p:spPr>
      </p:sp>
      <p:pic>
        <p:nvPicPr>
          <p:cNvPr id="26"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619601" y="6018967"/>
            <a:ext cx="201692" cy="201692"/>
          </a:xfrm>
          <a:prstGeom prst="rect">
            <a:avLst/>
          </a:prstGeom>
        </p:spPr>
      </p:pic>
      <p:sp>
        <p:nvSpPr>
          <p:cNvPr id="27" name="Text 20"/>
          <p:cNvSpPr/>
          <p:nvPr/>
        </p:nvSpPr>
        <p:spPr>
          <a:xfrm>
            <a:off x="7590234" y="6540103"/>
            <a:ext cx="2101929" cy="262652"/>
          </a:xfrm>
          <a:prstGeom prst="rect">
            <a:avLst/>
          </a:prstGeom>
          <a:noFill/>
          <a:ln/>
        </p:spPr>
        <p:txBody>
          <a:bodyPr wrap="none" lIns="0" tIns="0" rIns="0" bIns="0" rtlCol="0" anchor="t"/>
          <a:lstStyle/>
          <a:p>
            <a:pPr marL="0" indent="0" algn="l">
              <a:lnSpc>
                <a:spcPts val="2050"/>
              </a:lnSpc>
              <a:buNone/>
            </a:pPr>
            <a:r>
              <a:rPr lang="en-US" sz="1650" dirty="0">
                <a:solidFill>
                  <a:srgbClr val="C7CDD6"/>
                </a:solidFill>
                <a:latin typeface="Instrument Sans Medium" pitchFamily="34" charset="0"/>
                <a:ea typeface="Instrument Sans Medium" pitchFamily="34" charset="-122"/>
                <a:cs typeface="Instrument Sans Medium" pitchFamily="34" charset="-120"/>
              </a:rPr>
              <a:t>Evaluation Metric</a:t>
            </a:r>
            <a:endParaRPr lang="en-US" sz="1650" dirty="0"/>
          </a:p>
        </p:txBody>
      </p:sp>
      <p:sp>
        <p:nvSpPr>
          <p:cNvPr id="28" name="Text 21"/>
          <p:cNvSpPr/>
          <p:nvPr/>
        </p:nvSpPr>
        <p:spPr>
          <a:xfrm>
            <a:off x="7590234" y="6903601"/>
            <a:ext cx="6260663" cy="537924"/>
          </a:xfrm>
          <a:prstGeom prst="rect">
            <a:avLst/>
          </a:prstGeom>
          <a:noFill/>
          <a:ln/>
        </p:spPr>
        <p:txBody>
          <a:bodyPr wrap="square" lIns="0" tIns="0" rIns="0" bIns="0" rtlCol="0" anchor="t"/>
          <a:lstStyle/>
          <a:p>
            <a:pPr marL="0" indent="0" algn="l">
              <a:lnSpc>
                <a:spcPts val="2100"/>
              </a:lnSpc>
              <a:buNone/>
            </a:pPr>
            <a:r>
              <a:rPr lang="en-US" sz="1300" dirty="0">
                <a:solidFill>
                  <a:srgbClr val="C7CDD6"/>
                </a:solidFill>
                <a:latin typeface="Inter" pitchFamily="34" charset="0"/>
                <a:ea typeface="Inter" pitchFamily="34" charset="-122"/>
                <a:cs typeface="Inter" pitchFamily="34" charset="-120"/>
              </a:rPr>
              <a:t>Model performance was rigorously assessed using Root Mean Squared Error (RMSE), where a lower RMSE signifies superior accuracy.</a:t>
            </a:r>
            <a:endParaRPr lang="en-US" sz="1300" dirty="0"/>
          </a:p>
        </p:txBody>
      </p:sp>
      <p:pic>
        <p:nvPicPr>
          <p:cNvPr id="29" name="Picture 28" descr="A blue and white logo&#10;&#10;AI-generated content may be incorrect.">
            <a:extLst>
              <a:ext uri="{FF2B5EF4-FFF2-40B4-BE49-F238E27FC236}">
                <a16:creationId xmlns:a16="http://schemas.microsoft.com/office/drawing/2014/main" id="{859D09CA-5C71-9429-8171-7F50AC6963B4}"/>
              </a:ext>
            </a:extLst>
          </p:cNvPr>
          <p:cNvPicPr>
            <a:picLocks noChangeAspect="1"/>
          </p:cNvPicPr>
          <p:nvPr/>
        </p:nvPicPr>
        <p:blipFill>
          <a:blip r:embed="rId12"/>
          <a:stretch>
            <a:fillRect/>
          </a:stretch>
        </p:blipFill>
        <p:spPr>
          <a:xfrm>
            <a:off x="12290961" y="7618156"/>
            <a:ext cx="2339439" cy="6114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13899" y="1127165"/>
            <a:ext cx="12193548" cy="637580"/>
          </a:xfrm>
          <a:prstGeom prst="rect">
            <a:avLst/>
          </a:prstGeom>
          <a:noFill/>
          <a:ln/>
        </p:spPr>
        <p:txBody>
          <a:bodyPr wrap="none" lIns="0" tIns="0" rIns="0" bIns="0" rtlCol="0" anchor="t"/>
          <a:lstStyle/>
          <a:p>
            <a:pPr marL="0" indent="0" algn="l">
              <a:lnSpc>
                <a:spcPts val="5000"/>
              </a:lnSpc>
              <a:buNone/>
            </a:pPr>
            <a:r>
              <a:rPr lang="en-US" sz="4000" dirty="0">
                <a:solidFill>
                  <a:srgbClr val="EFD5FA"/>
                </a:solidFill>
                <a:latin typeface="Instrument Sans Medium" pitchFamily="34" charset="0"/>
                <a:ea typeface="Instrument Sans Medium" pitchFamily="34" charset="-122"/>
                <a:cs typeface="Instrument Sans Medium" pitchFamily="34" charset="-120"/>
              </a:rPr>
              <a:t>Proposed Approaches: Statistical vs. Deep Learning</a:t>
            </a:r>
            <a:endParaRPr lang="en-US" sz="4000" dirty="0"/>
          </a:p>
        </p:txBody>
      </p:sp>
      <p:sp>
        <p:nvSpPr>
          <p:cNvPr id="3" name="Text 1"/>
          <p:cNvSpPr/>
          <p:nvPr/>
        </p:nvSpPr>
        <p:spPr>
          <a:xfrm>
            <a:off x="713899" y="2070735"/>
            <a:ext cx="13202603" cy="326231"/>
          </a:xfrm>
          <a:prstGeom prst="rect">
            <a:avLst/>
          </a:prstGeom>
          <a:noFill/>
          <a:ln/>
        </p:spPr>
        <p:txBody>
          <a:bodyPr wrap="none" lIns="0" tIns="0" rIns="0" bIns="0" rtlCol="0" anchor="t"/>
          <a:lstStyle/>
          <a:p>
            <a:pPr marL="0" indent="0" algn="l">
              <a:lnSpc>
                <a:spcPts val="2550"/>
              </a:lnSpc>
              <a:buNone/>
            </a:pPr>
            <a:r>
              <a:rPr lang="en-US" sz="1600" dirty="0">
                <a:solidFill>
                  <a:srgbClr val="C7CDD6"/>
                </a:solidFill>
                <a:latin typeface="Inter" pitchFamily="34" charset="0"/>
                <a:ea typeface="Inter" pitchFamily="34" charset="-122"/>
                <a:cs typeface="Inter" pitchFamily="34" charset="-120"/>
              </a:rPr>
              <a:t>We explored two distinct methodological paths to address the product title quality estimation problem.</a:t>
            </a:r>
            <a:endParaRPr lang="en-US" sz="1600" dirty="0"/>
          </a:p>
        </p:txBody>
      </p:sp>
      <p:sp>
        <p:nvSpPr>
          <p:cNvPr id="4" name="Shape 2"/>
          <p:cNvSpPr/>
          <p:nvPr/>
        </p:nvSpPr>
        <p:spPr>
          <a:xfrm>
            <a:off x="713899" y="2626400"/>
            <a:ext cx="22860" cy="4476036"/>
          </a:xfrm>
          <a:prstGeom prst="roundRect">
            <a:avLst>
              <a:gd name="adj" fmla="val 133860"/>
            </a:avLst>
          </a:prstGeom>
          <a:solidFill>
            <a:srgbClr val="5C5C61"/>
          </a:solidFill>
          <a:ln/>
        </p:spPr>
      </p:sp>
      <p:sp>
        <p:nvSpPr>
          <p:cNvPr id="5" name="Shape 3"/>
          <p:cNvSpPr/>
          <p:nvPr/>
        </p:nvSpPr>
        <p:spPr>
          <a:xfrm>
            <a:off x="736759" y="2626400"/>
            <a:ext cx="13202603" cy="2034064"/>
          </a:xfrm>
          <a:prstGeom prst="rect">
            <a:avLst/>
          </a:prstGeom>
          <a:solidFill>
            <a:srgbClr val="434348"/>
          </a:solidFill>
          <a:ln/>
        </p:spPr>
      </p:sp>
      <p:sp>
        <p:nvSpPr>
          <p:cNvPr id="6" name="Text 4"/>
          <p:cNvSpPr/>
          <p:nvPr/>
        </p:nvSpPr>
        <p:spPr>
          <a:xfrm>
            <a:off x="940713" y="2830354"/>
            <a:ext cx="4401264" cy="382429"/>
          </a:xfrm>
          <a:prstGeom prst="rect">
            <a:avLst/>
          </a:prstGeom>
          <a:noFill/>
          <a:ln/>
        </p:spPr>
        <p:txBody>
          <a:bodyPr wrap="none" lIns="0" tIns="0" rIns="0" bIns="0" rtlCol="0" anchor="t"/>
          <a:lstStyle/>
          <a:p>
            <a:pPr marL="0" indent="0" algn="l">
              <a:lnSpc>
                <a:spcPts val="3000"/>
              </a:lnSpc>
              <a:buNone/>
            </a:pPr>
            <a:r>
              <a:rPr lang="en-US" sz="2400" dirty="0">
                <a:solidFill>
                  <a:srgbClr val="C7CDD6"/>
                </a:solidFill>
                <a:latin typeface="Instrument Sans Medium" pitchFamily="34" charset="0"/>
                <a:ea typeface="Instrument Sans Medium" pitchFamily="34" charset="-122"/>
                <a:cs typeface="Instrument Sans Medium" pitchFamily="34" charset="-120"/>
              </a:rPr>
              <a:t>Approach 1: Statistical Baseline</a:t>
            </a:r>
            <a:endParaRPr lang="en-US" sz="2400" dirty="0"/>
          </a:p>
        </p:txBody>
      </p:sp>
      <p:sp>
        <p:nvSpPr>
          <p:cNvPr id="7" name="Text 5"/>
          <p:cNvSpPr/>
          <p:nvPr/>
        </p:nvSpPr>
        <p:spPr>
          <a:xfrm>
            <a:off x="940713" y="3335179"/>
            <a:ext cx="12794694" cy="326231"/>
          </a:xfrm>
          <a:prstGeom prst="rect">
            <a:avLst/>
          </a:prstGeom>
          <a:noFill/>
          <a:ln/>
        </p:spPr>
        <p:txBody>
          <a:bodyPr wrap="none" lIns="0" tIns="0" rIns="0" bIns="0" rtlCol="0" anchor="t"/>
          <a:lstStyle/>
          <a:p>
            <a:pPr marL="342900" indent="-342900" algn="l">
              <a:lnSpc>
                <a:spcPts val="2550"/>
              </a:lnSpc>
              <a:buSzPct val="100000"/>
              <a:buChar char="•"/>
            </a:pPr>
            <a:r>
              <a:rPr lang="en-US" sz="1600" b="1" dirty="0">
                <a:solidFill>
                  <a:srgbClr val="C7CDD6"/>
                </a:solidFill>
                <a:latin typeface="Inter" pitchFamily="34" charset="0"/>
                <a:ea typeface="Inter" pitchFamily="34" charset="-122"/>
                <a:cs typeface="Inter" pitchFamily="34" charset="-120"/>
              </a:rPr>
              <a:t>Methodology:</a:t>
            </a:r>
            <a:r>
              <a:rPr lang="en-US" sz="1600" dirty="0">
                <a:solidFill>
                  <a:srgbClr val="C7CDD6"/>
                </a:solidFill>
                <a:latin typeface="Inter" pitchFamily="34" charset="0"/>
                <a:ea typeface="Inter" pitchFamily="34" charset="-122"/>
                <a:cs typeface="Inter" pitchFamily="34" charset="-120"/>
              </a:rPr>
              <a:t> Employed aggressive text cleaning techniques followed by the generation of Character N-Grams (2-6 characters).</a:t>
            </a:r>
            <a:endParaRPr lang="en-US" sz="1600" dirty="0"/>
          </a:p>
        </p:txBody>
      </p:sp>
      <p:sp>
        <p:nvSpPr>
          <p:cNvPr id="8" name="Text 6"/>
          <p:cNvSpPr/>
          <p:nvPr/>
        </p:nvSpPr>
        <p:spPr>
          <a:xfrm>
            <a:off x="940713" y="3732728"/>
            <a:ext cx="12794694" cy="326231"/>
          </a:xfrm>
          <a:prstGeom prst="rect">
            <a:avLst/>
          </a:prstGeom>
          <a:noFill/>
          <a:ln/>
        </p:spPr>
        <p:txBody>
          <a:bodyPr wrap="none" lIns="0" tIns="0" rIns="0" bIns="0" rtlCol="0" anchor="t"/>
          <a:lstStyle/>
          <a:p>
            <a:pPr marL="342900" indent="-342900" algn="l">
              <a:lnSpc>
                <a:spcPts val="2550"/>
              </a:lnSpc>
              <a:buSzPct val="100000"/>
              <a:buChar char="•"/>
            </a:pPr>
            <a:r>
              <a:rPr lang="en-US" sz="1600" b="1" dirty="0">
                <a:solidFill>
                  <a:srgbClr val="C7CDD6"/>
                </a:solidFill>
                <a:latin typeface="Inter" pitchFamily="34" charset="0"/>
                <a:ea typeface="Inter" pitchFamily="34" charset="-122"/>
                <a:cs typeface="Inter" pitchFamily="34" charset="-120"/>
              </a:rPr>
              <a:t>Model:</a:t>
            </a:r>
            <a:r>
              <a:rPr lang="en-US" sz="1600" dirty="0">
                <a:solidFill>
                  <a:srgbClr val="C7CDD6"/>
                </a:solidFill>
                <a:latin typeface="Inter" pitchFamily="34" charset="0"/>
                <a:ea typeface="Inter" pitchFamily="34" charset="-122"/>
                <a:cs typeface="Inter" pitchFamily="34" charset="-120"/>
              </a:rPr>
              <a:t> These N-grams were then fed into a highly efficient LightGBM Bagged Ensemble.</a:t>
            </a:r>
            <a:endParaRPr lang="en-US" sz="1600" dirty="0"/>
          </a:p>
        </p:txBody>
      </p:sp>
      <p:sp>
        <p:nvSpPr>
          <p:cNvPr id="9" name="Text 7"/>
          <p:cNvSpPr/>
          <p:nvPr/>
        </p:nvSpPr>
        <p:spPr>
          <a:xfrm>
            <a:off x="940713" y="4130278"/>
            <a:ext cx="12794694" cy="326231"/>
          </a:xfrm>
          <a:prstGeom prst="rect">
            <a:avLst/>
          </a:prstGeom>
          <a:noFill/>
          <a:ln/>
        </p:spPr>
        <p:txBody>
          <a:bodyPr wrap="none" lIns="0" tIns="0" rIns="0" bIns="0" rtlCol="0" anchor="t"/>
          <a:lstStyle/>
          <a:p>
            <a:pPr marL="342900" indent="-342900" algn="l">
              <a:lnSpc>
                <a:spcPts val="2550"/>
              </a:lnSpc>
              <a:buSzPct val="100000"/>
              <a:buChar char="•"/>
            </a:pPr>
            <a:r>
              <a:rPr lang="en-US" sz="1600" b="1" dirty="0">
                <a:solidFill>
                  <a:srgbClr val="C7CDD6"/>
                </a:solidFill>
                <a:latin typeface="Inter" pitchFamily="34" charset="0"/>
                <a:ea typeface="Inter" pitchFamily="34" charset="-122"/>
                <a:cs typeface="Inter" pitchFamily="34" charset="-120"/>
              </a:rPr>
              <a:t>Focus:</a:t>
            </a:r>
            <a:r>
              <a:rPr lang="en-US" sz="1600" dirty="0">
                <a:solidFill>
                  <a:srgbClr val="C7CDD6"/>
                </a:solidFill>
                <a:latin typeface="Inter" pitchFamily="34" charset="0"/>
                <a:ea typeface="Inter" pitchFamily="34" charset="-122"/>
                <a:cs typeface="Inter" pitchFamily="34" charset="-120"/>
              </a:rPr>
              <a:t> This approach primarily focused on identifying and leveraging structural patterns and common sequences within the text.</a:t>
            </a:r>
            <a:endParaRPr lang="en-US" sz="1600" dirty="0"/>
          </a:p>
        </p:txBody>
      </p:sp>
      <p:sp>
        <p:nvSpPr>
          <p:cNvPr id="10" name="Shape 8"/>
          <p:cNvSpPr/>
          <p:nvPr/>
        </p:nvSpPr>
        <p:spPr>
          <a:xfrm>
            <a:off x="736759" y="5068372"/>
            <a:ext cx="13202603" cy="2034064"/>
          </a:xfrm>
          <a:prstGeom prst="rect">
            <a:avLst/>
          </a:prstGeom>
          <a:solidFill>
            <a:srgbClr val="434348"/>
          </a:solidFill>
          <a:ln/>
        </p:spPr>
      </p:sp>
      <p:sp>
        <p:nvSpPr>
          <p:cNvPr id="11" name="Text 9"/>
          <p:cNvSpPr/>
          <p:nvPr/>
        </p:nvSpPr>
        <p:spPr>
          <a:xfrm>
            <a:off x="940713" y="5272326"/>
            <a:ext cx="5901809" cy="382429"/>
          </a:xfrm>
          <a:prstGeom prst="rect">
            <a:avLst/>
          </a:prstGeom>
          <a:noFill/>
          <a:ln/>
        </p:spPr>
        <p:txBody>
          <a:bodyPr wrap="none" lIns="0" tIns="0" rIns="0" bIns="0" rtlCol="0" anchor="t"/>
          <a:lstStyle/>
          <a:p>
            <a:pPr marL="0" indent="0" algn="l">
              <a:lnSpc>
                <a:spcPts val="3000"/>
              </a:lnSpc>
              <a:buNone/>
            </a:pPr>
            <a:r>
              <a:rPr lang="en-US" sz="2400" dirty="0">
                <a:solidFill>
                  <a:srgbClr val="C7CDD6"/>
                </a:solidFill>
                <a:latin typeface="Instrument Sans Medium" pitchFamily="34" charset="0"/>
                <a:ea typeface="Instrument Sans Medium" pitchFamily="34" charset="-122"/>
                <a:cs typeface="Instrument Sans Medium" pitchFamily="34" charset="-120"/>
              </a:rPr>
              <a:t>Approach 2: Deep Learning (Transformer)</a:t>
            </a:r>
            <a:endParaRPr lang="en-US" sz="2400" dirty="0"/>
          </a:p>
        </p:txBody>
      </p:sp>
      <p:sp>
        <p:nvSpPr>
          <p:cNvPr id="12" name="Text 10"/>
          <p:cNvSpPr/>
          <p:nvPr/>
        </p:nvSpPr>
        <p:spPr>
          <a:xfrm>
            <a:off x="940713" y="5777151"/>
            <a:ext cx="12794694" cy="326231"/>
          </a:xfrm>
          <a:prstGeom prst="rect">
            <a:avLst/>
          </a:prstGeom>
          <a:noFill/>
          <a:ln/>
        </p:spPr>
        <p:txBody>
          <a:bodyPr wrap="none" lIns="0" tIns="0" rIns="0" bIns="0" rtlCol="0" anchor="t"/>
          <a:lstStyle/>
          <a:p>
            <a:pPr marL="342900" indent="-342900" algn="l">
              <a:lnSpc>
                <a:spcPts val="2550"/>
              </a:lnSpc>
              <a:buSzPct val="100000"/>
              <a:buChar char="•"/>
            </a:pPr>
            <a:r>
              <a:rPr lang="en-US" sz="1600" b="1" dirty="0">
                <a:solidFill>
                  <a:srgbClr val="C7CDD6"/>
                </a:solidFill>
                <a:latin typeface="Inter" pitchFamily="34" charset="0"/>
                <a:ea typeface="Inter" pitchFamily="34" charset="-122"/>
                <a:cs typeface="Inter" pitchFamily="34" charset="-120"/>
              </a:rPr>
              <a:t>Methodology:</a:t>
            </a:r>
            <a:r>
              <a:rPr lang="en-US" sz="1600" dirty="0">
                <a:solidFill>
                  <a:srgbClr val="C7CDD6"/>
                </a:solidFill>
                <a:latin typeface="Inter" pitchFamily="34" charset="0"/>
                <a:ea typeface="Inter" pitchFamily="34" charset="-122"/>
                <a:cs typeface="Inter" pitchFamily="34" charset="-120"/>
              </a:rPr>
              <a:t> Utilized pre-trained DistilBERT for feature extraction, generating contextualized embeddings.</a:t>
            </a:r>
            <a:endParaRPr lang="en-US" sz="1600" dirty="0"/>
          </a:p>
        </p:txBody>
      </p:sp>
      <p:sp>
        <p:nvSpPr>
          <p:cNvPr id="13" name="Text 11"/>
          <p:cNvSpPr/>
          <p:nvPr/>
        </p:nvSpPr>
        <p:spPr>
          <a:xfrm>
            <a:off x="940713" y="6174700"/>
            <a:ext cx="12794694" cy="326231"/>
          </a:xfrm>
          <a:prstGeom prst="rect">
            <a:avLst/>
          </a:prstGeom>
          <a:noFill/>
          <a:ln/>
        </p:spPr>
        <p:txBody>
          <a:bodyPr wrap="none" lIns="0" tIns="0" rIns="0" bIns="0" rtlCol="0" anchor="t"/>
          <a:lstStyle/>
          <a:p>
            <a:pPr marL="342900" indent="-342900" algn="l">
              <a:lnSpc>
                <a:spcPts val="2550"/>
              </a:lnSpc>
              <a:buSzPct val="100000"/>
              <a:buChar char="•"/>
            </a:pPr>
            <a:r>
              <a:rPr lang="en-US" sz="1600" b="1" dirty="0">
                <a:solidFill>
                  <a:srgbClr val="C7CDD6"/>
                </a:solidFill>
                <a:latin typeface="Inter" pitchFamily="34" charset="0"/>
                <a:ea typeface="Inter" pitchFamily="34" charset="-122"/>
                <a:cs typeface="Inter" pitchFamily="34" charset="-120"/>
              </a:rPr>
              <a:t>Model:</a:t>
            </a:r>
            <a:r>
              <a:rPr lang="en-US" sz="1600" dirty="0">
                <a:solidFill>
                  <a:srgbClr val="C7CDD6"/>
                </a:solidFill>
                <a:latin typeface="Inter" pitchFamily="34" charset="0"/>
                <a:ea typeface="Inter" pitchFamily="34" charset="-122"/>
                <a:cs typeface="Inter" pitchFamily="34" charset="-120"/>
              </a:rPr>
              <a:t> The extracted DistilBERT embeddings were subsequently input into a LightGBM model.</a:t>
            </a:r>
            <a:endParaRPr lang="en-US" sz="1600" dirty="0"/>
          </a:p>
        </p:txBody>
      </p:sp>
      <p:sp>
        <p:nvSpPr>
          <p:cNvPr id="14" name="Text 12"/>
          <p:cNvSpPr/>
          <p:nvPr/>
        </p:nvSpPr>
        <p:spPr>
          <a:xfrm>
            <a:off x="940713" y="6572250"/>
            <a:ext cx="12794694" cy="326231"/>
          </a:xfrm>
          <a:prstGeom prst="rect">
            <a:avLst/>
          </a:prstGeom>
          <a:noFill/>
          <a:ln/>
        </p:spPr>
        <p:txBody>
          <a:bodyPr wrap="none" lIns="0" tIns="0" rIns="0" bIns="0" rtlCol="0" anchor="t"/>
          <a:lstStyle/>
          <a:p>
            <a:pPr marL="342900" indent="-342900" algn="l">
              <a:lnSpc>
                <a:spcPts val="2550"/>
              </a:lnSpc>
              <a:buSzPct val="100000"/>
              <a:buChar char="•"/>
            </a:pPr>
            <a:r>
              <a:rPr lang="en-US" sz="1600" b="1" dirty="0">
                <a:solidFill>
                  <a:srgbClr val="C7CDD6"/>
                </a:solidFill>
                <a:latin typeface="Inter" pitchFamily="34" charset="0"/>
                <a:ea typeface="Inter" pitchFamily="34" charset="-122"/>
                <a:cs typeface="Inter" pitchFamily="34" charset="-120"/>
              </a:rPr>
              <a:t>Focus:</a:t>
            </a:r>
            <a:r>
              <a:rPr lang="en-US" sz="1600" dirty="0">
                <a:solidFill>
                  <a:srgbClr val="C7CDD6"/>
                </a:solidFill>
                <a:latin typeface="Inter" pitchFamily="34" charset="0"/>
                <a:ea typeface="Inter" pitchFamily="34" charset="-122"/>
                <a:cs typeface="Inter" pitchFamily="34" charset="-120"/>
              </a:rPr>
              <a:t> This method aimed to capture deeper semantic meaning and contextual relationships within the product titles.</a:t>
            </a:r>
            <a:endParaRPr lang="en-US" sz="1600" dirty="0"/>
          </a:p>
        </p:txBody>
      </p:sp>
      <p:pic>
        <p:nvPicPr>
          <p:cNvPr id="15" name="Picture 14" descr="A blue and white logo&#10;&#10;AI-generated content may be incorrect.">
            <a:extLst>
              <a:ext uri="{FF2B5EF4-FFF2-40B4-BE49-F238E27FC236}">
                <a16:creationId xmlns:a16="http://schemas.microsoft.com/office/drawing/2014/main" id="{D9AC1155-1647-8BB2-334D-DC944818A253}"/>
              </a:ext>
            </a:extLst>
          </p:cNvPr>
          <p:cNvPicPr>
            <a:picLocks noChangeAspect="1"/>
          </p:cNvPicPr>
          <p:nvPr/>
        </p:nvPicPr>
        <p:blipFill>
          <a:blip r:embed="rId3"/>
          <a:stretch>
            <a:fillRect/>
          </a:stretch>
        </p:blipFill>
        <p:spPr>
          <a:xfrm>
            <a:off x="12290961" y="7618156"/>
            <a:ext cx="2339439" cy="6114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6997" y="750927"/>
            <a:ext cx="9184838" cy="658058"/>
          </a:xfrm>
          <a:prstGeom prst="rect">
            <a:avLst/>
          </a:prstGeom>
          <a:noFill/>
          <a:ln/>
        </p:spPr>
        <p:txBody>
          <a:bodyPr wrap="none" lIns="0" tIns="0" rIns="0" bIns="0" rtlCol="0" anchor="t"/>
          <a:lstStyle/>
          <a:p>
            <a:pPr marL="0" indent="0" algn="l">
              <a:lnSpc>
                <a:spcPts val="5150"/>
              </a:lnSpc>
              <a:buNone/>
            </a:pPr>
            <a:r>
              <a:rPr lang="en-US" sz="4100" dirty="0">
                <a:solidFill>
                  <a:srgbClr val="EFD5FA"/>
                </a:solidFill>
                <a:latin typeface="Instrument Sans Medium" pitchFamily="34" charset="0"/>
                <a:ea typeface="Instrument Sans Medium" pitchFamily="34" charset="-122"/>
                <a:cs typeface="Instrument Sans Medium" pitchFamily="34" charset="-120"/>
              </a:rPr>
              <a:t>Implementation Details &amp; Constraints</a:t>
            </a:r>
            <a:endParaRPr lang="en-US" sz="4100" dirty="0"/>
          </a:p>
        </p:txBody>
      </p:sp>
      <p:sp>
        <p:nvSpPr>
          <p:cNvPr id="3" name="Text 1"/>
          <p:cNvSpPr/>
          <p:nvPr/>
        </p:nvSpPr>
        <p:spPr>
          <a:xfrm>
            <a:off x="736997" y="1830110"/>
            <a:ext cx="13156406" cy="336947"/>
          </a:xfrm>
          <a:prstGeom prst="rect">
            <a:avLst/>
          </a:prstGeom>
          <a:noFill/>
          <a:ln/>
        </p:spPr>
        <p:txBody>
          <a:bodyPr wrap="none" lIns="0" tIns="0" rIns="0" bIns="0" rtlCol="0" anchor="t"/>
          <a:lstStyle/>
          <a:p>
            <a:pPr marL="0" indent="0" algn="l">
              <a:lnSpc>
                <a:spcPts val="2650"/>
              </a:lnSpc>
              <a:buNone/>
            </a:pPr>
            <a:r>
              <a:rPr lang="en-US" sz="1650" dirty="0">
                <a:solidFill>
                  <a:srgbClr val="C7CDD6"/>
                </a:solidFill>
                <a:latin typeface="Inter" pitchFamily="34" charset="0"/>
                <a:ea typeface="Inter" pitchFamily="34" charset="-122"/>
                <a:cs typeface="Inter" pitchFamily="34" charset="-120"/>
              </a:rPr>
              <a:t>Our implementation was shaped by both strategic choices and existing hardware limitations.</a:t>
            </a:r>
            <a:endParaRPr lang="en-US" sz="1650" dirty="0"/>
          </a:p>
        </p:txBody>
      </p:sp>
      <p:sp>
        <p:nvSpPr>
          <p:cNvPr id="4" name="Text 2"/>
          <p:cNvSpPr/>
          <p:nvPr/>
        </p:nvSpPr>
        <p:spPr>
          <a:xfrm>
            <a:off x="736997" y="2614374"/>
            <a:ext cx="3967163" cy="394811"/>
          </a:xfrm>
          <a:prstGeom prst="rect">
            <a:avLst/>
          </a:prstGeom>
          <a:noFill/>
          <a:ln/>
        </p:spPr>
        <p:txBody>
          <a:bodyPr wrap="none" lIns="0" tIns="0" rIns="0" bIns="0" rtlCol="0" anchor="t"/>
          <a:lstStyle/>
          <a:p>
            <a:pPr marL="0" indent="0" algn="l">
              <a:lnSpc>
                <a:spcPts val="3100"/>
              </a:lnSpc>
              <a:buNone/>
            </a:pPr>
            <a:r>
              <a:rPr lang="en-US" sz="2450" dirty="0">
                <a:solidFill>
                  <a:srgbClr val="EFD5FA"/>
                </a:solidFill>
                <a:latin typeface="Instrument Sans Medium" pitchFamily="34" charset="0"/>
                <a:ea typeface="Instrument Sans Medium" pitchFamily="34" charset="-122"/>
                <a:cs typeface="Instrument Sans Medium" pitchFamily="34" charset="-120"/>
              </a:rPr>
              <a:t>Development Environment</a:t>
            </a:r>
            <a:endParaRPr lang="en-US" sz="2450" dirty="0"/>
          </a:p>
        </p:txBody>
      </p:sp>
      <p:sp>
        <p:nvSpPr>
          <p:cNvPr id="5" name="Text 3"/>
          <p:cNvSpPr/>
          <p:nvPr/>
        </p:nvSpPr>
        <p:spPr>
          <a:xfrm>
            <a:off x="736997" y="3219688"/>
            <a:ext cx="6321385" cy="673894"/>
          </a:xfrm>
          <a:prstGeom prst="rect">
            <a:avLst/>
          </a:prstGeom>
          <a:noFill/>
          <a:ln/>
        </p:spPr>
        <p:txBody>
          <a:bodyPr wrap="square" lIns="0" tIns="0" rIns="0" bIns="0" rtlCol="0" anchor="t"/>
          <a:lstStyle/>
          <a:p>
            <a:pPr marL="342900" indent="-342900" algn="l">
              <a:lnSpc>
                <a:spcPts val="2650"/>
              </a:lnSpc>
              <a:buSzPct val="100000"/>
              <a:buChar char="•"/>
            </a:pPr>
            <a:r>
              <a:rPr lang="en-US" sz="1650" b="1" dirty="0">
                <a:solidFill>
                  <a:srgbClr val="C7CDD6"/>
                </a:solidFill>
                <a:latin typeface="Inter" pitchFamily="34" charset="0"/>
                <a:ea typeface="Inter" pitchFamily="34" charset="-122"/>
                <a:cs typeface="Inter" pitchFamily="34" charset="-120"/>
              </a:rPr>
              <a:t>Language:</a:t>
            </a:r>
            <a:r>
              <a:rPr lang="en-US" sz="1650" dirty="0">
                <a:solidFill>
                  <a:srgbClr val="C7CDD6"/>
                </a:solidFill>
                <a:latin typeface="Inter" pitchFamily="34" charset="0"/>
                <a:ea typeface="Inter" pitchFamily="34" charset="-122"/>
                <a:cs typeface="Inter" pitchFamily="34" charset="-120"/>
              </a:rPr>
              <a:t> Python, primarily developed within Jupyter Notebooks for iterative experimentation.</a:t>
            </a:r>
            <a:endParaRPr lang="en-US" sz="1650" dirty="0"/>
          </a:p>
        </p:txBody>
      </p:sp>
      <p:sp>
        <p:nvSpPr>
          <p:cNvPr id="6" name="Text 4"/>
          <p:cNvSpPr/>
          <p:nvPr/>
        </p:nvSpPr>
        <p:spPr>
          <a:xfrm>
            <a:off x="736997" y="3967282"/>
            <a:ext cx="6321385" cy="673894"/>
          </a:xfrm>
          <a:prstGeom prst="rect">
            <a:avLst/>
          </a:prstGeom>
          <a:noFill/>
          <a:ln/>
        </p:spPr>
        <p:txBody>
          <a:bodyPr wrap="square" lIns="0" tIns="0" rIns="0" bIns="0" rtlCol="0" anchor="t"/>
          <a:lstStyle/>
          <a:p>
            <a:pPr marL="342900" indent="-342900" algn="l">
              <a:lnSpc>
                <a:spcPts val="2650"/>
              </a:lnSpc>
              <a:buSzPct val="100000"/>
              <a:buChar char="•"/>
            </a:pPr>
            <a:r>
              <a:rPr lang="en-US" sz="1650" b="1" dirty="0">
                <a:solidFill>
                  <a:srgbClr val="C7CDD6"/>
                </a:solidFill>
                <a:latin typeface="Inter" pitchFamily="34" charset="0"/>
                <a:ea typeface="Inter" pitchFamily="34" charset="-122"/>
                <a:cs typeface="Inter" pitchFamily="34" charset="-120"/>
              </a:rPr>
              <a:t>Hardware:</a:t>
            </a:r>
            <a:r>
              <a:rPr lang="en-US" sz="1650" dirty="0">
                <a:solidFill>
                  <a:srgbClr val="C7CDD6"/>
                </a:solidFill>
                <a:latin typeface="Inter" pitchFamily="34" charset="0"/>
                <a:ea typeface="Inter" pitchFamily="34" charset="-122"/>
                <a:cs typeface="Inter" pitchFamily="34" charset="-120"/>
              </a:rPr>
              <a:t> All computations were performed in a CPU-only environment, posing limitations for deep learning models.</a:t>
            </a:r>
            <a:endParaRPr lang="en-US" sz="1650" dirty="0"/>
          </a:p>
        </p:txBody>
      </p:sp>
      <p:sp>
        <p:nvSpPr>
          <p:cNvPr id="7" name="Text 5"/>
          <p:cNvSpPr/>
          <p:nvPr/>
        </p:nvSpPr>
        <p:spPr>
          <a:xfrm>
            <a:off x="736997" y="4714875"/>
            <a:ext cx="6321385" cy="336947"/>
          </a:xfrm>
          <a:prstGeom prst="rect">
            <a:avLst/>
          </a:prstGeom>
          <a:noFill/>
          <a:ln/>
        </p:spPr>
        <p:txBody>
          <a:bodyPr wrap="none" lIns="0" tIns="0" rIns="0" bIns="0" rtlCol="0" anchor="t"/>
          <a:lstStyle/>
          <a:p>
            <a:pPr marL="342900" indent="-342900" algn="l">
              <a:lnSpc>
                <a:spcPts val="2650"/>
              </a:lnSpc>
              <a:buSzPct val="100000"/>
              <a:buChar char="•"/>
            </a:pPr>
            <a:r>
              <a:rPr lang="en-US" sz="1650" b="1" dirty="0">
                <a:solidFill>
                  <a:srgbClr val="C7CDD6"/>
                </a:solidFill>
                <a:latin typeface="Inter" pitchFamily="34" charset="0"/>
                <a:ea typeface="Inter" pitchFamily="34" charset="-122"/>
                <a:cs typeface="Inter" pitchFamily="34" charset="-120"/>
              </a:rPr>
              <a:t>Key Libraries:</a:t>
            </a:r>
            <a:endParaRPr lang="en-US" sz="1650" dirty="0"/>
          </a:p>
        </p:txBody>
      </p:sp>
      <p:sp>
        <p:nvSpPr>
          <p:cNvPr id="8" name="Text 6"/>
          <p:cNvSpPr/>
          <p:nvPr/>
        </p:nvSpPr>
        <p:spPr>
          <a:xfrm>
            <a:off x="736997" y="5125522"/>
            <a:ext cx="6321385" cy="673894"/>
          </a:xfrm>
          <a:prstGeom prst="rect">
            <a:avLst/>
          </a:prstGeom>
          <a:noFill/>
          <a:ln/>
        </p:spPr>
        <p:txBody>
          <a:bodyPr wrap="square" lIns="0" tIns="0" rIns="0" bIns="0" rtlCol="0" anchor="t"/>
          <a:lstStyle/>
          <a:p>
            <a:pPr marL="685800" lvl="1" indent="-342900" algn="l">
              <a:lnSpc>
                <a:spcPts val="2650"/>
              </a:lnSpc>
              <a:buSzPct val="100000"/>
              <a:buChar char="•"/>
            </a:pPr>
            <a:r>
              <a:rPr lang="en-US" sz="1650" dirty="0">
                <a:solidFill>
                  <a:srgbClr val="C7CDD6"/>
                </a:solidFill>
                <a:latin typeface="Inter" pitchFamily="34" charset="0"/>
                <a:ea typeface="Inter" pitchFamily="34" charset="-122"/>
                <a:cs typeface="Inter" pitchFamily="34" charset="-120"/>
              </a:rPr>
              <a:t>scikit-learn: For traditional machine learning tasks and utilities.</a:t>
            </a:r>
            <a:endParaRPr lang="en-US" sz="1650" dirty="0"/>
          </a:p>
        </p:txBody>
      </p:sp>
      <p:sp>
        <p:nvSpPr>
          <p:cNvPr id="9" name="Text 7"/>
          <p:cNvSpPr/>
          <p:nvPr/>
        </p:nvSpPr>
        <p:spPr>
          <a:xfrm>
            <a:off x="736997" y="5873115"/>
            <a:ext cx="6321385" cy="673894"/>
          </a:xfrm>
          <a:prstGeom prst="rect">
            <a:avLst/>
          </a:prstGeom>
          <a:noFill/>
          <a:ln/>
        </p:spPr>
        <p:txBody>
          <a:bodyPr wrap="square" lIns="0" tIns="0" rIns="0" bIns="0" rtlCol="0" anchor="t"/>
          <a:lstStyle/>
          <a:p>
            <a:pPr marL="685800" lvl="1" indent="-342900" algn="l">
              <a:lnSpc>
                <a:spcPts val="2650"/>
              </a:lnSpc>
              <a:buSzPct val="100000"/>
              <a:buChar char="•"/>
            </a:pPr>
            <a:r>
              <a:rPr lang="en-US" sz="1650" dirty="0">
                <a:solidFill>
                  <a:srgbClr val="C7CDD6"/>
                </a:solidFill>
                <a:latin typeface="Inter" pitchFamily="34" charset="0"/>
                <a:ea typeface="Inter" pitchFamily="34" charset="-122"/>
                <a:cs typeface="Inter" pitchFamily="34" charset="-120"/>
              </a:rPr>
              <a:t>lightgbm: For efficient gradient boosting ensemble methods.</a:t>
            </a:r>
            <a:endParaRPr lang="en-US" sz="1650" dirty="0"/>
          </a:p>
        </p:txBody>
      </p:sp>
      <p:sp>
        <p:nvSpPr>
          <p:cNvPr id="10" name="Text 8"/>
          <p:cNvSpPr/>
          <p:nvPr/>
        </p:nvSpPr>
        <p:spPr>
          <a:xfrm>
            <a:off x="736997" y="6620708"/>
            <a:ext cx="6321385" cy="673894"/>
          </a:xfrm>
          <a:prstGeom prst="rect">
            <a:avLst/>
          </a:prstGeom>
          <a:noFill/>
          <a:ln/>
        </p:spPr>
        <p:txBody>
          <a:bodyPr wrap="square" lIns="0" tIns="0" rIns="0" bIns="0" rtlCol="0" anchor="t"/>
          <a:lstStyle/>
          <a:p>
            <a:pPr marL="685800" lvl="1" indent="-342900" algn="l">
              <a:lnSpc>
                <a:spcPts val="2650"/>
              </a:lnSpc>
              <a:buSzPct val="100000"/>
              <a:buChar char="•"/>
            </a:pPr>
            <a:r>
              <a:rPr lang="en-US" sz="1650" dirty="0">
                <a:solidFill>
                  <a:srgbClr val="C7CDD6"/>
                </a:solidFill>
                <a:latin typeface="Inter" pitchFamily="34" charset="0"/>
                <a:ea typeface="Inter" pitchFamily="34" charset="-122"/>
                <a:cs typeface="Inter" pitchFamily="34" charset="-120"/>
              </a:rPr>
              <a:t>transformers (Hugging Face): For leveraging pre-trained transformer models.</a:t>
            </a:r>
            <a:endParaRPr lang="en-US" sz="1650" dirty="0"/>
          </a:p>
        </p:txBody>
      </p:sp>
      <p:sp>
        <p:nvSpPr>
          <p:cNvPr id="11" name="Text 9"/>
          <p:cNvSpPr/>
          <p:nvPr/>
        </p:nvSpPr>
        <p:spPr>
          <a:xfrm>
            <a:off x="7579638" y="2614374"/>
            <a:ext cx="3158609" cy="394811"/>
          </a:xfrm>
          <a:prstGeom prst="rect">
            <a:avLst/>
          </a:prstGeom>
          <a:noFill/>
          <a:ln/>
        </p:spPr>
        <p:txBody>
          <a:bodyPr wrap="none" lIns="0" tIns="0" rIns="0" bIns="0" rtlCol="0" anchor="t"/>
          <a:lstStyle/>
          <a:p>
            <a:pPr marL="0" indent="0" algn="l">
              <a:lnSpc>
                <a:spcPts val="3100"/>
              </a:lnSpc>
              <a:buNone/>
            </a:pPr>
            <a:r>
              <a:rPr lang="en-US" sz="2450" dirty="0">
                <a:solidFill>
                  <a:srgbClr val="EFD5FA"/>
                </a:solidFill>
                <a:latin typeface="Instrument Sans Medium" pitchFamily="34" charset="0"/>
                <a:ea typeface="Instrument Sans Medium" pitchFamily="34" charset="-122"/>
                <a:cs typeface="Instrument Sans Medium" pitchFamily="34" charset="-120"/>
              </a:rPr>
              <a:t>Transformer Strategy</a:t>
            </a:r>
            <a:endParaRPr lang="en-US" sz="2450" dirty="0"/>
          </a:p>
        </p:txBody>
      </p:sp>
      <p:sp>
        <p:nvSpPr>
          <p:cNvPr id="12" name="Text 10"/>
          <p:cNvSpPr/>
          <p:nvPr/>
        </p:nvSpPr>
        <p:spPr>
          <a:xfrm>
            <a:off x="7579638" y="3219688"/>
            <a:ext cx="6321385" cy="1010841"/>
          </a:xfrm>
          <a:prstGeom prst="rect">
            <a:avLst/>
          </a:prstGeom>
          <a:noFill/>
          <a:ln/>
        </p:spPr>
        <p:txBody>
          <a:bodyPr wrap="square" lIns="0" tIns="0" rIns="0" bIns="0" rtlCol="0" anchor="t"/>
          <a:lstStyle/>
          <a:p>
            <a:pPr marL="342900" indent="-342900" algn="l">
              <a:lnSpc>
                <a:spcPts val="2650"/>
              </a:lnSpc>
              <a:buSzPct val="100000"/>
              <a:buChar char="•"/>
            </a:pPr>
            <a:r>
              <a:rPr lang="en-US" sz="1650" b="1" dirty="0">
                <a:solidFill>
                  <a:srgbClr val="C7CDD6"/>
                </a:solidFill>
                <a:latin typeface="Inter" pitchFamily="34" charset="0"/>
                <a:ea typeface="Inter" pitchFamily="34" charset="-122"/>
                <a:cs typeface="Inter" pitchFamily="34" charset="-120"/>
              </a:rPr>
              <a:t>Feature Extraction:</a:t>
            </a:r>
            <a:r>
              <a:rPr lang="en-US" sz="1650" dirty="0">
                <a:solidFill>
                  <a:srgbClr val="C7CDD6"/>
                </a:solidFill>
                <a:latin typeface="Inter" pitchFamily="34" charset="0"/>
                <a:ea typeface="Inter" pitchFamily="34" charset="-122"/>
                <a:cs typeface="Inter" pitchFamily="34" charset="-120"/>
              </a:rPr>
              <a:t> Due to CPU constraints, we opted for "Feature Extraction" with frozen DistilBERT weights. This prevented computationally intensive fine-tuning.</a:t>
            </a:r>
            <a:endParaRPr lang="en-US" sz="1650" dirty="0"/>
          </a:p>
        </p:txBody>
      </p:sp>
      <p:sp>
        <p:nvSpPr>
          <p:cNvPr id="13" name="Text 11"/>
          <p:cNvSpPr/>
          <p:nvPr/>
        </p:nvSpPr>
        <p:spPr>
          <a:xfrm>
            <a:off x="7579638" y="4304228"/>
            <a:ext cx="6321385" cy="1010841"/>
          </a:xfrm>
          <a:prstGeom prst="rect">
            <a:avLst/>
          </a:prstGeom>
          <a:noFill/>
          <a:ln/>
        </p:spPr>
        <p:txBody>
          <a:bodyPr wrap="square" lIns="0" tIns="0" rIns="0" bIns="0" rtlCol="0" anchor="t"/>
          <a:lstStyle/>
          <a:p>
            <a:pPr marL="342900" indent="-342900" algn="l">
              <a:lnSpc>
                <a:spcPts val="2650"/>
              </a:lnSpc>
              <a:buSzPct val="100000"/>
              <a:buChar char="•"/>
            </a:pPr>
            <a:r>
              <a:rPr lang="en-US" sz="1650" b="1" dirty="0">
                <a:solidFill>
                  <a:srgbClr val="C7CDD6"/>
                </a:solidFill>
                <a:latin typeface="Inter" pitchFamily="34" charset="0"/>
                <a:ea typeface="Inter" pitchFamily="34" charset="-122"/>
                <a:cs typeface="Inter" pitchFamily="34" charset="-120"/>
              </a:rPr>
              <a:t>[CLS] Token:</a:t>
            </a:r>
            <a:r>
              <a:rPr lang="en-US" sz="1650" dirty="0">
                <a:solidFill>
                  <a:srgbClr val="C7CDD6"/>
                </a:solidFill>
                <a:latin typeface="Inter" pitchFamily="34" charset="0"/>
                <a:ea typeface="Inter" pitchFamily="34" charset="-122"/>
                <a:cs typeface="Inter" pitchFamily="34" charset="-120"/>
              </a:rPr>
              <a:t> The [CLS] token's embedding was extracted to serve as a comprehensive representation of the entire sentence context.</a:t>
            </a:r>
            <a:endParaRPr lang="en-US" sz="1650" dirty="0"/>
          </a:p>
        </p:txBody>
      </p:sp>
      <p:sp>
        <p:nvSpPr>
          <p:cNvPr id="14" name="Text 12"/>
          <p:cNvSpPr/>
          <p:nvPr/>
        </p:nvSpPr>
        <p:spPr>
          <a:xfrm>
            <a:off x="7579638" y="5525572"/>
            <a:ext cx="3158609" cy="394811"/>
          </a:xfrm>
          <a:prstGeom prst="rect">
            <a:avLst/>
          </a:prstGeom>
          <a:noFill/>
          <a:ln/>
        </p:spPr>
        <p:txBody>
          <a:bodyPr wrap="none" lIns="0" tIns="0" rIns="0" bIns="0" rtlCol="0" anchor="t"/>
          <a:lstStyle/>
          <a:p>
            <a:pPr marL="0" indent="0" algn="l">
              <a:lnSpc>
                <a:spcPts val="3100"/>
              </a:lnSpc>
              <a:buNone/>
            </a:pPr>
            <a:r>
              <a:rPr lang="en-US" sz="2450" dirty="0">
                <a:solidFill>
                  <a:srgbClr val="EFD5FA"/>
                </a:solidFill>
                <a:latin typeface="Instrument Sans Medium" pitchFamily="34" charset="0"/>
                <a:ea typeface="Instrument Sans Medium" pitchFamily="34" charset="-122"/>
                <a:cs typeface="Instrument Sans Medium" pitchFamily="34" charset="-120"/>
              </a:rPr>
              <a:t>Ensemble Approach</a:t>
            </a:r>
            <a:endParaRPr lang="en-US" sz="2450" dirty="0"/>
          </a:p>
        </p:txBody>
      </p:sp>
      <p:sp>
        <p:nvSpPr>
          <p:cNvPr id="15" name="Text 13"/>
          <p:cNvSpPr/>
          <p:nvPr/>
        </p:nvSpPr>
        <p:spPr>
          <a:xfrm>
            <a:off x="7579638" y="6130885"/>
            <a:ext cx="6321385" cy="336947"/>
          </a:xfrm>
          <a:prstGeom prst="rect">
            <a:avLst/>
          </a:prstGeom>
          <a:noFill/>
          <a:ln/>
        </p:spPr>
        <p:txBody>
          <a:bodyPr wrap="none" lIns="0" tIns="0" rIns="0" bIns="0" rtlCol="0" anchor="t"/>
          <a:lstStyle/>
          <a:p>
            <a:pPr marL="0" indent="0" algn="l">
              <a:lnSpc>
                <a:spcPts val="2650"/>
              </a:lnSpc>
              <a:buNone/>
            </a:pPr>
            <a:r>
              <a:rPr lang="en-US" sz="1650" dirty="0">
                <a:solidFill>
                  <a:srgbClr val="C7CDD6"/>
                </a:solidFill>
                <a:latin typeface="Inter" pitchFamily="34" charset="0"/>
                <a:ea typeface="Inter" pitchFamily="34" charset="-122"/>
                <a:cs typeface="Inter" pitchFamily="34" charset="-120"/>
              </a:rPr>
              <a:t>A simple weighted average was used to combine predictions:</a:t>
            </a:r>
            <a:endParaRPr lang="en-US" sz="1650" dirty="0"/>
          </a:p>
        </p:txBody>
      </p:sp>
      <p:sp>
        <p:nvSpPr>
          <p:cNvPr id="16" name="Text 14"/>
          <p:cNvSpPr/>
          <p:nvPr/>
        </p:nvSpPr>
        <p:spPr>
          <a:xfrm>
            <a:off x="7579638" y="6657261"/>
            <a:ext cx="6321385" cy="336947"/>
          </a:xfrm>
          <a:prstGeom prst="rect">
            <a:avLst/>
          </a:prstGeom>
          <a:noFill/>
          <a:ln/>
        </p:spPr>
        <p:txBody>
          <a:bodyPr wrap="none" lIns="0" tIns="0" rIns="0" bIns="0" rtlCol="0" anchor="t"/>
          <a:lstStyle/>
          <a:p>
            <a:pPr marL="342900" indent="-342900" algn="l">
              <a:lnSpc>
                <a:spcPts val="2650"/>
              </a:lnSpc>
              <a:buSzPct val="100000"/>
              <a:buChar char="•"/>
            </a:pPr>
            <a:r>
              <a:rPr lang="en-US" sz="1650" b="1" dirty="0">
                <a:solidFill>
                  <a:srgbClr val="C7CDD6"/>
                </a:solidFill>
                <a:latin typeface="Inter" pitchFamily="34" charset="0"/>
                <a:ea typeface="Inter" pitchFamily="34" charset="-122"/>
                <a:cs typeface="Inter" pitchFamily="34" charset="-120"/>
              </a:rPr>
              <a:t>70% Baseline Model</a:t>
            </a:r>
            <a:endParaRPr lang="en-US" sz="1650" dirty="0"/>
          </a:p>
        </p:txBody>
      </p:sp>
      <p:sp>
        <p:nvSpPr>
          <p:cNvPr id="17" name="Text 15"/>
          <p:cNvSpPr/>
          <p:nvPr/>
        </p:nvSpPr>
        <p:spPr>
          <a:xfrm>
            <a:off x="7579638" y="7067907"/>
            <a:ext cx="6321385" cy="336947"/>
          </a:xfrm>
          <a:prstGeom prst="rect">
            <a:avLst/>
          </a:prstGeom>
          <a:noFill/>
          <a:ln/>
        </p:spPr>
        <p:txBody>
          <a:bodyPr wrap="none" lIns="0" tIns="0" rIns="0" bIns="0" rtlCol="0" anchor="t"/>
          <a:lstStyle/>
          <a:p>
            <a:pPr marL="342900" indent="-342900" algn="l">
              <a:lnSpc>
                <a:spcPts val="2650"/>
              </a:lnSpc>
              <a:buSzPct val="100000"/>
              <a:buChar char="•"/>
            </a:pPr>
            <a:r>
              <a:rPr lang="en-US" sz="1650" dirty="0">
                <a:solidFill>
                  <a:srgbClr val="C7CDD6"/>
                </a:solidFill>
                <a:latin typeface="Inter" pitchFamily="34" charset="0"/>
                <a:ea typeface="Inter" pitchFamily="34" charset="-122"/>
                <a:cs typeface="Inter" pitchFamily="34" charset="-120"/>
              </a:rPr>
              <a:t>30% Transformer Model</a:t>
            </a:r>
            <a:endParaRPr lang="en-US" sz="1650" dirty="0"/>
          </a:p>
        </p:txBody>
      </p:sp>
      <p:pic>
        <p:nvPicPr>
          <p:cNvPr id="18" name="Picture 17" descr="A blue and white logo&#10;&#10;AI-generated content may be incorrect.">
            <a:extLst>
              <a:ext uri="{FF2B5EF4-FFF2-40B4-BE49-F238E27FC236}">
                <a16:creationId xmlns:a16="http://schemas.microsoft.com/office/drawing/2014/main" id="{D92B4F18-D18C-8B36-A78A-178CFD8BA178}"/>
              </a:ext>
            </a:extLst>
          </p:cNvPr>
          <p:cNvPicPr>
            <a:picLocks noChangeAspect="1"/>
          </p:cNvPicPr>
          <p:nvPr/>
        </p:nvPicPr>
        <p:blipFill>
          <a:blip r:embed="rId3"/>
          <a:stretch>
            <a:fillRect/>
          </a:stretch>
        </p:blipFill>
        <p:spPr>
          <a:xfrm>
            <a:off x="12290961" y="7618156"/>
            <a:ext cx="2339439" cy="61144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13184" y="799386"/>
            <a:ext cx="10233779" cy="636746"/>
          </a:xfrm>
          <a:prstGeom prst="rect">
            <a:avLst/>
          </a:prstGeom>
          <a:noFill/>
          <a:ln/>
        </p:spPr>
        <p:txBody>
          <a:bodyPr wrap="none" lIns="0" tIns="0" rIns="0" bIns="0" rtlCol="0" anchor="t"/>
          <a:lstStyle/>
          <a:p>
            <a:pPr marL="0" indent="0" algn="l">
              <a:lnSpc>
                <a:spcPts val="5000"/>
              </a:lnSpc>
              <a:buNone/>
            </a:pPr>
            <a:r>
              <a:rPr lang="en-US" sz="4000" dirty="0">
                <a:solidFill>
                  <a:srgbClr val="EFD5FA"/>
                </a:solidFill>
                <a:latin typeface="Instrument Sans Medium" pitchFamily="34" charset="0"/>
                <a:ea typeface="Instrument Sans Medium" pitchFamily="34" charset="-122"/>
                <a:cs typeface="Instrument Sans Medium" pitchFamily="34" charset="-120"/>
              </a:rPr>
              <a:t>Results Comparison: A Surprising Outcome</a:t>
            </a:r>
            <a:endParaRPr lang="en-US" sz="4000" dirty="0"/>
          </a:p>
        </p:txBody>
      </p:sp>
      <p:sp>
        <p:nvSpPr>
          <p:cNvPr id="3" name="Text 1"/>
          <p:cNvSpPr/>
          <p:nvPr/>
        </p:nvSpPr>
        <p:spPr>
          <a:xfrm>
            <a:off x="713184" y="1843683"/>
            <a:ext cx="13204031" cy="326112"/>
          </a:xfrm>
          <a:prstGeom prst="rect">
            <a:avLst/>
          </a:prstGeom>
          <a:noFill/>
          <a:ln/>
        </p:spPr>
        <p:txBody>
          <a:bodyPr wrap="none" lIns="0" tIns="0" rIns="0" bIns="0" rtlCol="0" anchor="t"/>
          <a:lstStyle/>
          <a:p>
            <a:pPr marL="0" indent="0" algn="l">
              <a:lnSpc>
                <a:spcPts val="2550"/>
              </a:lnSpc>
              <a:buNone/>
            </a:pPr>
            <a:r>
              <a:rPr lang="en-US" sz="1600" dirty="0">
                <a:solidFill>
                  <a:srgbClr val="C7CDD6"/>
                </a:solidFill>
                <a:latin typeface="Inter" pitchFamily="34" charset="0"/>
                <a:ea typeface="Inter" pitchFamily="34" charset="-122"/>
                <a:cs typeface="Inter" pitchFamily="34" charset="-120"/>
              </a:rPr>
              <a:t>Our comparative analysis yielded an unexpected insight into the effectiveness of the two approaches for this specific task.</a:t>
            </a:r>
            <a:endParaRPr lang="en-US" sz="1600" dirty="0"/>
          </a:p>
        </p:txBody>
      </p:sp>
      <p:sp>
        <p:nvSpPr>
          <p:cNvPr id="4" name="Shape 2"/>
          <p:cNvSpPr/>
          <p:nvPr/>
        </p:nvSpPr>
        <p:spPr>
          <a:xfrm>
            <a:off x="713184" y="2398990"/>
            <a:ext cx="13204031" cy="2601039"/>
          </a:xfrm>
          <a:prstGeom prst="roundRect">
            <a:avLst>
              <a:gd name="adj" fmla="val 1175"/>
            </a:avLst>
          </a:prstGeom>
          <a:solidFill>
            <a:srgbClr val="434348"/>
          </a:solidFill>
          <a:ln/>
        </p:spPr>
      </p:sp>
      <p:sp>
        <p:nvSpPr>
          <p:cNvPr id="5" name="Shape 3"/>
          <p:cNvSpPr/>
          <p:nvPr/>
        </p:nvSpPr>
        <p:spPr>
          <a:xfrm>
            <a:off x="713184" y="2398990"/>
            <a:ext cx="4401264" cy="2601039"/>
          </a:xfrm>
          <a:prstGeom prst="roundRect">
            <a:avLst>
              <a:gd name="adj" fmla="val 1175"/>
            </a:avLst>
          </a:prstGeom>
          <a:solidFill>
            <a:srgbClr val="FDC4C4"/>
          </a:solidFill>
          <a:ln/>
        </p:spPr>
      </p:sp>
      <p:sp>
        <p:nvSpPr>
          <p:cNvPr id="6" name="Text 4"/>
          <p:cNvSpPr/>
          <p:nvPr/>
        </p:nvSpPr>
        <p:spPr>
          <a:xfrm>
            <a:off x="916900" y="2602706"/>
            <a:ext cx="2821900" cy="318492"/>
          </a:xfrm>
          <a:prstGeom prst="rect">
            <a:avLst/>
          </a:prstGeom>
          <a:noFill/>
          <a:ln/>
        </p:spPr>
        <p:txBody>
          <a:bodyPr wrap="none" lIns="0" tIns="0" rIns="0" bIns="0" rtlCol="0" anchor="t"/>
          <a:lstStyle/>
          <a:p>
            <a:pPr marL="0" indent="0" algn="l">
              <a:lnSpc>
                <a:spcPts val="2500"/>
              </a:lnSpc>
              <a:buNone/>
            </a:pPr>
            <a:r>
              <a:rPr lang="en-US" sz="2000" dirty="0">
                <a:solidFill>
                  <a:srgbClr val="000000"/>
                </a:solidFill>
                <a:latin typeface="Instrument Sans Medium" pitchFamily="34" charset="0"/>
                <a:ea typeface="Instrument Sans Medium" pitchFamily="34" charset="-122"/>
                <a:cs typeface="Instrument Sans Medium" pitchFamily="34" charset="-120"/>
              </a:rPr>
              <a:t>Baseline (Char N-Gram)</a:t>
            </a:r>
            <a:endParaRPr lang="en-US" sz="2000" dirty="0"/>
          </a:p>
        </p:txBody>
      </p:sp>
      <p:sp>
        <p:nvSpPr>
          <p:cNvPr id="7" name="Text 5"/>
          <p:cNvSpPr/>
          <p:nvPr/>
        </p:nvSpPr>
        <p:spPr>
          <a:xfrm>
            <a:off x="916900" y="3043476"/>
            <a:ext cx="3688080" cy="326112"/>
          </a:xfrm>
          <a:prstGeom prst="rect">
            <a:avLst/>
          </a:prstGeom>
          <a:noFill/>
          <a:ln/>
        </p:spPr>
        <p:txBody>
          <a:bodyPr wrap="none" lIns="0" tIns="0" rIns="0" bIns="0" rtlCol="0" anchor="t"/>
          <a:lstStyle/>
          <a:p>
            <a:pPr marL="0" indent="0" algn="l">
              <a:lnSpc>
                <a:spcPts val="2550"/>
              </a:lnSpc>
              <a:buNone/>
            </a:pPr>
            <a:r>
              <a:rPr lang="en-US" sz="1600" dirty="0">
                <a:solidFill>
                  <a:srgbClr val="000000"/>
                </a:solidFill>
                <a:latin typeface="Inter" pitchFamily="34" charset="0"/>
                <a:ea typeface="Inter" pitchFamily="34" charset="-122"/>
                <a:cs typeface="Inter" pitchFamily="34" charset="-120"/>
              </a:rPr>
              <a:t>Clarity RMSE = </a:t>
            </a:r>
            <a:r>
              <a:rPr lang="en-US" sz="1600" b="1" dirty="0">
                <a:solidFill>
                  <a:srgbClr val="000000"/>
                </a:solidFill>
                <a:latin typeface="Inter" pitchFamily="34" charset="0"/>
                <a:ea typeface="Inter" pitchFamily="34" charset="-122"/>
                <a:cs typeface="Inter" pitchFamily="34" charset="-120"/>
              </a:rPr>
              <a:t>0.5293</a:t>
            </a:r>
            <a:endParaRPr lang="en-US" sz="1600" dirty="0"/>
          </a:p>
        </p:txBody>
      </p:sp>
      <p:sp>
        <p:nvSpPr>
          <p:cNvPr id="8" name="Text 6"/>
          <p:cNvSpPr/>
          <p:nvPr/>
        </p:nvSpPr>
        <p:spPr>
          <a:xfrm>
            <a:off x="916900" y="3491865"/>
            <a:ext cx="3688080" cy="978337"/>
          </a:xfrm>
          <a:prstGeom prst="rect">
            <a:avLst/>
          </a:prstGeom>
          <a:noFill/>
          <a:ln/>
        </p:spPr>
        <p:txBody>
          <a:bodyPr wrap="square" lIns="0" tIns="0" rIns="0" bIns="0" rtlCol="0" anchor="t"/>
          <a:lstStyle/>
          <a:p>
            <a:pPr marL="0" indent="0" algn="l">
              <a:lnSpc>
                <a:spcPts val="2550"/>
              </a:lnSpc>
              <a:buNone/>
            </a:pPr>
            <a:r>
              <a:rPr lang="en-US" sz="1600" dirty="0">
                <a:solidFill>
                  <a:srgbClr val="000000"/>
                </a:solidFill>
                <a:latin typeface="Inter" pitchFamily="34" charset="0"/>
                <a:ea typeface="Inter" pitchFamily="34" charset="-122"/>
                <a:cs typeface="Inter" pitchFamily="34" charset="-120"/>
              </a:rPr>
              <a:t>This model emerged as the individual winner, demonstrating the power of structural feature analysis.</a:t>
            </a:r>
            <a:endParaRPr lang="en-US" sz="1600" dirty="0"/>
          </a:p>
        </p:txBody>
      </p:sp>
      <p:sp>
        <p:nvSpPr>
          <p:cNvPr id="9" name="Shape 7"/>
          <p:cNvSpPr/>
          <p:nvPr/>
        </p:nvSpPr>
        <p:spPr>
          <a:xfrm>
            <a:off x="5114449" y="2398990"/>
            <a:ext cx="4401383" cy="2601039"/>
          </a:xfrm>
          <a:prstGeom prst="rect">
            <a:avLst/>
          </a:prstGeom>
          <a:solidFill>
            <a:srgbClr val="C8C7FF"/>
          </a:solidFill>
          <a:ln/>
        </p:spPr>
      </p:sp>
      <p:sp>
        <p:nvSpPr>
          <p:cNvPr id="10" name="Shape 8"/>
          <p:cNvSpPr/>
          <p:nvPr/>
        </p:nvSpPr>
        <p:spPr>
          <a:xfrm>
            <a:off x="5114449" y="2398990"/>
            <a:ext cx="22860" cy="2601039"/>
          </a:xfrm>
          <a:prstGeom prst="roundRect">
            <a:avLst>
              <a:gd name="adj" fmla="val 133728"/>
            </a:avLst>
          </a:prstGeom>
          <a:solidFill>
            <a:srgbClr val="AEADE5"/>
          </a:solidFill>
          <a:ln/>
        </p:spPr>
      </p:sp>
      <p:sp>
        <p:nvSpPr>
          <p:cNvPr id="11" name="Text 9"/>
          <p:cNvSpPr/>
          <p:nvPr/>
        </p:nvSpPr>
        <p:spPr>
          <a:xfrm>
            <a:off x="5623917" y="2602706"/>
            <a:ext cx="2969300" cy="318492"/>
          </a:xfrm>
          <a:prstGeom prst="rect">
            <a:avLst/>
          </a:prstGeom>
          <a:noFill/>
          <a:ln/>
        </p:spPr>
        <p:txBody>
          <a:bodyPr wrap="none" lIns="0" tIns="0" rIns="0" bIns="0" rtlCol="0" anchor="t"/>
          <a:lstStyle/>
          <a:p>
            <a:pPr marL="0" indent="0" algn="l">
              <a:lnSpc>
                <a:spcPts val="2500"/>
              </a:lnSpc>
              <a:buNone/>
            </a:pPr>
            <a:r>
              <a:rPr lang="en-US" sz="2000" dirty="0">
                <a:solidFill>
                  <a:srgbClr val="000000"/>
                </a:solidFill>
                <a:latin typeface="Instrument Sans Medium" pitchFamily="34" charset="0"/>
                <a:ea typeface="Instrument Sans Medium" pitchFamily="34" charset="-122"/>
                <a:cs typeface="Instrument Sans Medium" pitchFamily="34" charset="-120"/>
              </a:rPr>
              <a:t>Transformer (DistilBERT)</a:t>
            </a:r>
            <a:endParaRPr lang="en-US" sz="2000" dirty="0"/>
          </a:p>
        </p:txBody>
      </p:sp>
      <p:sp>
        <p:nvSpPr>
          <p:cNvPr id="12" name="Text 10"/>
          <p:cNvSpPr/>
          <p:nvPr/>
        </p:nvSpPr>
        <p:spPr>
          <a:xfrm>
            <a:off x="5623917" y="3043476"/>
            <a:ext cx="3382447" cy="326112"/>
          </a:xfrm>
          <a:prstGeom prst="rect">
            <a:avLst/>
          </a:prstGeom>
          <a:noFill/>
          <a:ln/>
        </p:spPr>
        <p:txBody>
          <a:bodyPr wrap="none" lIns="0" tIns="0" rIns="0" bIns="0" rtlCol="0" anchor="t"/>
          <a:lstStyle/>
          <a:p>
            <a:pPr marL="0" indent="0" algn="l">
              <a:lnSpc>
                <a:spcPts val="2550"/>
              </a:lnSpc>
              <a:buNone/>
            </a:pPr>
            <a:r>
              <a:rPr lang="en-US" sz="1600" dirty="0">
                <a:solidFill>
                  <a:srgbClr val="000000"/>
                </a:solidFill>
                <a:latin typeface="Inter" pitchFamily="34" charset="0"/>
                <a:ea typeface="Inter" pitchFamily="34" charset="-122"/>
                <a:cs typeface="Inter" pitchFamily="34" charset="-120"/>
              </a:rPr>
              <a:t>Clarity RMSE = </a:t>
            </a:r>
            <a:r>
              <a:rPr lang="en-US" sz="1600" b="1" dirty="0">
                <a:solidFill>
                  <a:srgbClr val="000000"/>
                </a:solidFill>
                <a:latin typeface="Inter" pitchFamily="34" charset="0"/>
                <a:ea typeface="Inter" pitchFamily="34" charset="-122"/>
                <a:cs typeface="Inter" pitchFamily="34" charset="-120"/>
              </a:rPr>
              <a:t>0.5303</a:t>
            </a:r>
            <a:endParaRPr lang="en-US" sz="1600" dirty="0"/>
          </a:p>
        </p:txBody>
      </p:sp>
      <p:sp>
        <p:nvSpPr>
          <p:cNvPr id="13" name="Text 11"/>
          <p:cNvSpPr/>
          <p:nvPr/>
        </p:nvSpPr>
        <p:spPr>
          <a:xfrm>
            <a:off x="5623917" y="3491865"/>
            <a:ext cx="3382447" cy="1304449"/>
          </a:xfrm>
          <a:prstGeom prst="rect">
            <a:avLst/>
          </a:prstGeom>
          <a:noFill/>
          <a:ln/>
        </p:spPr>
        <p:txBody>
          <a:bodyPr wrap="square" lIns="0" tIns="0" rIns="0" bIns="0" rtlCol="0" anchor="t"/>
          <a:lstStyle/>
          <a:p>
            <a:pPr marL="0" indent="0" algn="l">
              <a:lnSpc>
                <a:spcPts val="2550"/>
              </a:lnSpc>
              <a:buNone/>
            </a:pPr>
            <a:r>
              <a:rPr lang="en-US" sz="1600" dirty="0">
                <a:solidFill>
                  <a:srgbClr val="000000"/>
                </a:solidFill>
                <a:latin typeface="Inter" pitchFamily="34" charset="0"/>
                <a:ea typeface="Inter" pitchFamily="34" charset="-122"/>
                <a:cs typeface="Inter" pitchFamily="34" charset="-120"/>
              </a:rPr>
              <a:t>While robust, the transformer's performance lagged slightly behind the baseline for this particular metric.</a:t>
            </a:r>
            <a:endParaRPr lang="en-US" sz="1600" dirty="0"/>
          </a:p>
        </p:txBody>
      </p:sp>
      <p:sp>
        <p:nvSpPr>
          <p:cNvPr id="14" name="Shape 12"/>
          <p:cNvSpPr/>
          <p:nvPr/>
        </p:nvSpPr>
        <p:spPr>
          <a:xfrm>
            <a:off x="4859774" y="3444776"/>
            <a:ext cx="509468" cy="509468"/>
          </a:xfrm>
          <a:prstGeom prst="roundRect">
            <a:avLst>
              <a:gd name="adj" fmla="val 6000"/>
            </a:avLst>
          </a:prstGeom>
          <a:solidFill>
            <a:srgbClr val="242429"/>
          </a:solidFill>
          <a:ln w="22860">
            <a:solidFill>
              <a:srgbClr val="AEADE5"/>
            </a:solidFill>
            <a:prstDash val="solid"/>
          </a:ln>
        </p:spPr>
      </p:sp>
      <p:pic>
        <p:nvPicPr>
          <p:cNvPr id="1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87171" y="3572054"/>
            <a:ext cx="254675" cy="254675"/>
          </a:xfrm>
          <a:prstGeom prst="rect">
            <a:avLst/>
          </a:prstGeom>
        </p:spPr>
      </p:pic>
      <p:sp>
        <p:nvSpPr>
          <p:cNvPr id="16" name="Shape 13"/>
          <p:cNvSpPr/>
          <p:nvPr/>
        </p:nvSpPr>
        <p:spPr>
          <a:xfrm>
            <a:off x="9515832" y="2398990"/>
            <a:ext cx="4401383" cy="2601039"/>
          </a:xfrm>
          <a:prstGeom prst="rect">
            <a:avLst/>
          </a:prstGeom>
          <a:solidFill>
            <a:srgbClr val="FDC4C4"/>
          </a:solidFill>
          <a:ln/>
        </p:spPr>
      </p:sp>
      <p:sp>
        <p:nvSpPr>
          <p:cNvPr id="17" name="Shape 14"/>
          <p:cNvSpPr/>
          <p:nvPr/>
        </p:nvSpPr>
        <p:spPr>
          <a:xfrm>
            <a:off x="9515832" y="2398990"/>
            <a:ext cx="22860" cy="2601039"/>
          </a:xfrm>
          <a:prstGeom prst="roundRect">
            <a:avLst>
              <a:gd name="adj" fmla="val 133728"/>
            </a:avLst>
          </a:prstGeom>
          <a:solidFill>
            <a:srgbClr val="E3AAAA"/>
          </a:solidFill>
          <a:ln/>
        </p:spPr>
      </p:sp>
      <p:sp>
        <p:nvSpPr>
          <p:cNvPr id="18" name="Text 15"/>
          <p:cNvSpPr/>
          <p:nvPr/>
        </p:nvSpPr>
        <p:spPr>
          <a:xfrm>
            <a:off x="10025301" y="2602706"/>
            <a:ext cx="2547461" cy="318492"/>
          </a:xfrm>
          <a:prstGeom prst="rect">
            <a:avLst/>
          </a:prstGeom>
          <a:noFill/>
          <a:ln/>
        </p:spPr>
        <p:txBody>
          <a:bodyPr wrap="none" lIns="0" tIns="0" rIns="0" bIns="0" rtlCol="0" anchor="t"/>
          <a:lstStyle/>
          <a:p>
            <a:pPr marL="0" indent="0" algn="l">
              <a:lnSpc>
                <a:spcPts val="2500"/>
              </a:lnSpc>
              <a:buNone/>
            </a:pPr>
            <a:r>
              <a:rPr lang="en-US" sz="2000" dirty="0">
                <a:solidFill>
                  <a:srgbClr val="000000"/>
                </a:solidFill>
                <a:latin typeface="Instrument Sans Medium" pitchFamily="34" charset="0"/>
                <a:ea typeface="Instrument Sans Medium" pitchFamily="34" charset="-122"/>
                <a:cs typeface="Instrument Sans Medium" pitchFamily="34" charset="-120"/>
              </a:rPr>
              <a:t>Ensemble Model</a:t>
            </a:r>
            <a:endParaRPr lang="en-US" sz="2000" dirty="0"/>
          </a:p>
        </p:txBody>
      </p:sp>
      <p:sp>
        <p:nvSpPr>
          <p:cNvPr id="19" name="Text 16"/>
          <p:cNvSpPr/>
          <p:nvPr/>
        </p:nvSpPr>
        <p:spPr>
          <a:xfrm>
            <a:off x="10025301" y="3043476"/>
            <a:ext cx="3688199" cy="326112"/>
          </a:xfrm>
          <a:prstGeom prst="rect">
            <a:avLst/>
          </a:prstGeom>
          <a:noFill/>
          <a:ln/>
        </p:spPr>
        <p:txBody>
          <a:bodyPr wrap="none" lIns="0" tIns="0" rIns="0" bIns="0" rtlCol="0" anchor="t"/>
          <a:lstStyle/>
          <a:p>
            <a:pPr marL="0" indent="0" algn="l">
              <a:lnSpc>
                <a:spcPts val="2550"/>
              </a:lnSpc>
              <a:buNone/>
            </a:pPr>
            <a:r>
              <a:rPr lang="en-US" sz="1600" dirty="0">
                <a:solidFill>
                  <a:srgbClr val="000000"/>
                </a:solidFill>
                <a:latin typeface="Inter" pitchFamily="34" charset="0"/>
                <a:ea typeface="Inter" pitchFamily="34" charset="-122"/>
                <a:cs typeface="Inter" pitchFamily="34" charset="-120"/>
              </a:rPr>
              <a:t>Clarity RMSE = </a:t>
            </a:r>
            <a:r>
              <a:rPr lang="en-US" sz="1600" b="1" dirty="0">
                <a:solidFill>
                  <a:srgbClr val="000000"/>
                </a:solidFill>
                <a:latin typeface="Inter" pitchFamily="34" charset="0"/>
                <a:ea typeface="Inter" pitchFamily="34" charset="-122"/>
                <a:cs typeface="Inter" pitchFamily="34" charset="-120"/>
              </a:rPr>
              <a:t>0.5292</a:t>
            </a:r>
            <a:endParaRPr lang="en-US" sz="1600" dirty="0"/>
          </a:p>
        </p:txBody>
      </p:sp>
      <p:sp>
        <p:nvSpPr>
          <p:cNvPr id="20" name="Text 17"/>
          <p:cNvSpPr/>
          <p:nvPr/>
        </p:nvSpPr>
        <p:spPr>
          <a:xfrm>
            <a:off x="10025301" y="3491865"/>
            <a:ext cx="3688199" cy="1304449"/>
          </a:xfrm>
          <a:prstGeom prst="rect">
            <a:avLst/>
          </a:prstGeom>
          <a:noFill/>
          <a:ln/>
        </p:spPr>
        <p:txBody>
          <a:bodyPr wrap="square" lIns="0" tIns="0" rIns="0" bIns="0" rtlCol="0" anchor="t"/>
          <a:lstStyle/>
          <a:p>
            <a:pPr marL="0" indent="0" algn="l">
              <a:lnSpc>
                <a:spcPts val="2550"/>
              </a:lnSpc>
              <a:buNone/>
            </a:pPr>
            <a:r>
              <a:rPr lang="en-US" sz="1600" dirty="0">
                <a:solidFill>
                  <a:srgbClr val="000000"/>
                </a:solidFill>
                <a:latin typeface="Inter" pitchFamily="34" charset="0"/>
                <a:ea typeface="Inter" pitchFamily="34" charset="-122"/>
                <a:cs typeface="Inter" pitchFamily="34" charset="-120"/>
              </a:rPr>
              <a:t>The weighted ensemble achieved the best overall performance, slightly outperforming the standalone baseline.</a:t>
            </a:r>
            <a:endParaRPr lang="en-US" sz="1600" dirty="0"/>
          </a:p>
        </p:txBody>
      </p:sp>
      <p:sp>
        <p:nvSpPr>
          <p:cNvPr id="21" name="Shape 18"/>
          <p:cNvSpPr/>
          <p:nvPr/>
        </p:nvSpPr>
        <p:spPr>
          <a:xfrm>
            <a:off x="9261158" y="3444776"/>
            <a:ext cx="509468" cy="509468"/>
          </a:xfrm>
          <a:prstGeom prst="roundRect">
            <a:avLst>
              <a:gd name="adj" fmla="val 6000"/>
            </a:avLst>
          </a:prstGeom>
          <a:solidFill>
            <a:srgbClr val="242429"/>
          </a:solidFill>
          <a:ln w="22860">
            <a:solidFill>
              <a:srgbClr val="E3AAAA"/>
            </a:solidFill>
            <a:prstDash val="solid"/>
          </a:ln>
        </p:spPr>
      </p:sp>
      <p:pic>
        <p:nvPicPr>
          <p:cNvPr id="2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88554" y="3572054"/>
            <a:ext cx="254675" cy="254675"/>
          </a:xfrm>
          <a:prstGeom prst="rect">
            <a:avLst/>
          </a:prstGeom>
        </p:spPr>
      </p:pic>
      <p:sp>
        <p:nvSpPr>
          <p:cNvPr id="23" name="Text 19"/>
          <p:cNvSpPr/>
          <p:nvPr/>
        </p:nvSpPr>
        <p:spPr>
          <a:xfrm>
            <a:off x="1018818" y="5534858"/>
            <a:ext cx="3056930" cy="382191"/>
          </a:xfrm>
          <a:prstGeom prst="rect">
            <a:avLst/>
          </a:prstGeom>
          <a:noFill/>
          <a:ln/>
        </p:spPr>
        <p:txBody>
          <a:bodyPr wrap="none" lIns="0" tIns="0" rIns="0" bIns="0" rtlCol="0" anchor="t"/>
          <a:lstStyle/>
          <a:p>
            <a:pPr marL="0" indent="0" algn="l">
              <a:lnSpc>
                <a:spcPts val="3000"/>
              </a:lnSpc>
              <a:buNone/>
            </a:pPr>
            <a:r>
              <a:rPr lang="en-US" sz="2400" dirty="0">
                <a:solidFill>
                  <a:srgbClr val="EFD5FA"/>
                </a:solidFill>
                <a:latin typeface="Instrument Sans Medium" pitchFamily="34" charset="0"/>
                <a:ea typeface="Instrument Sans Medium" pitchFamily="34" charset="-122"/>
                <a:cs typeface="Instrument Sans Medium" pitchFamily="34" charset="-120"/>
              </a:rPr>
              <a:t>Key Finding:</a:t>
            </a:r>
            <a:endParaRPr lang="en-US" sz="2400" dirty="0"/>
          </a:p>
        </p:txBody>
      </p:sp>
      <p:sp>
        <p:nvSpPr>
          <p:cNvPr id="24" name="Text 20"/>
          <p:cNvSpPr/>
          <p:nvPr/>
        </p:nvSpPr>
        <p:spPr>
          <a:xfrm>
            <a:off x="1018818" y="6222683"/>
            <a:ext cx="12898398" cy="978337"/>
          </a:xfrm>
          <a:prstGeom prst="rect">
            <a:avLst/>
          </a:prstGeom>
          <a:noFill/>
          <a:ln/>
        </p:spPr>
        <p:txBody>
          <a:bodyPr wrap="square" lIns="0" tIns="0" rIns="0" bIns="0" rtlCol="0" anchor="t"/>
          <a:lstStyle/>
          <a:p>
            <a:pPr marL="0" indent="0" algn="l">
              <a:lnSpc>
                <a:spcPts val="2550"/>
              </a:lnSpc>
              <a:buNone/>
            </a:pPr>
            <a:r>
              <a:rPr lang="en-US" sz="1600" dirty="0">
                <a:solidFill>
                  <a:srgbClr val="C7CDD6"/>
                </a:solidFill>
                <a:latin typeface="Inter" pitchFamily="34" charset="0"/>
                <a:ea typeface="Inter" pitchFamily="34" charset="-122"/>
                <a:cs typeface="Inter" pitchFamily="34" charset="-120"/>
              </a:rPr>
              <a:t>For the task of product title quality estimation (particularly "cleanliness"), structural features derived from character N-grams proved to be </a:t>
            </a:r>
            <a:r>
              <a:rPr lang="en-US" sz="1600" b="1" dirty="0">
                <a:solidFill>
                  <a:srgbClr val="C7CDD6"/>
                </a:solidFill>
                <a:latin typeface="Inter" pitchFamily="34" charset="0"/>
                <a:ea typeface="Inter" pitchFamily="34" charset="-122"/>
                <a:cs typeface="Inter" pitchFamily="34" charset="-120"/>
              </a:rPr>
              <a:t>more effective</a:t>
            </a:r>
            <a:r>
              <a:rPr lang="en-US" sz="1600" dirty="0">
                <a:solidFill>
                  <a:srgbClr val="C7CDD6"/>
                </a:solidFill>
                <a:latin typeface="Inter" pitchFamily="34" charset="0"/>
                <a:ea typeface="Inter" pitchFamily="34" charset="-122"/>
                <a:cs typeface="Inter" pitchFamily="34" charset="-120"/>
              </a:rPr>
              <a:t> than semantic embeddings from a pre-trained Transformer model. This suggests that simple, low-level textual patterns are highly indicative of title quality in this context.</a:t>
            </a:r>
            <a:endParaRPr lang="en-US" sz="1600" dirty="0"/>
          </a:p>
        </p:txBody>
      </p:sp>
      <p:sp>
        <p:nvSpPr>
          <p:cNvPr id="25" name="Shape 21"/>
          <p:cNvSpPr/>
          <p:nvPr/>
        </p:nvSpPr>
        <p:spPr>
          <a:xfrm>
            <a:off x="713184" y="5229225"/>
            <a:ext cx="22860" cy="2200989"/>
          </a:xfrm>
          <a:prstGeom prst="rect">
            <a:avLst/>
          </a:prstGeom>
          <a:solidFill>
            <a:srgbClr val="FDC4C4"/>
          </a:solidFill>
          <a:ln/>
        </p:spPr>
      </p:sp>
      <p:pic>
        <p:nvPicPr>
          <p:cNvPr id="26" name="Picture 25" descr="A blue and white logo&#10;&#10;AI-generated content may be incorrect.">
            <a:extLst>
              <a:ext uri="{FF2B5EF4-FFF2-40B4-BE49-F238E27FC236}">
                <a16:creationId xmlns:a16="http://schemas.microsoft.com/office/drawing/2014/main" id="{7372E010-CD85-DBF8-C55E-833BD1E74AB8}"/>
              </a:ext>
            </a:extLst>
          </p:cNvPr>
          <p:cNvPicPr>
            <a:picLocks noChangeAspect="1"/>
          </p:cNvPicPr>
          <p:nvPr/>
        </p:nvPicPr>
        <p:blipFill>
          <a:blip r:embed="rId7"/>
          <a:stretch>
            <a:fillRect/>
          </a:stretch>
        </p:blipFill>
        <p:spPr>
          <a:xfrm>
            <a:off x="12290961" y="7618156"/>
            <a:ext cx="2339439" cy="6114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526387"/>
          </a:xfrm>
          <a:prstGeom prst="rect">
            <a:avLst/>
          </a:prstGeom>
        </p:spPr>
      </p:pic>
      <p:sp>
        <p:nvSpPr>
          <p:cNvPr id="3" name="Text 0"/>
          <p:cNvSpPr/>
          <p:nvPr/>
        </p:nvSpPr>
        <p:spPr>
          <a:xfrm>
            <a:off x="707350" y="3137297"/>
            <a:ext cx="7306032" cy="631627"/>
          </a:xfrm>
          <a:prstGeom prst="rect">
            <a:avLst/>
          </a:prstGeom>
          <a:noFill/>
          <a:ln/>
        </p:spPr>
        <p:txBody>
          <a:bodyPr wrap="none" lIns="0" tIns="0" rIns="0" bIns="0" rtlCol="0" anchor="t"/>
          <a:lstStyle/>
          <a:p>
            <a:pPr marL="0" indent="0" algn="l">
              <a:lnSpc>
                <a:spcPts val="4950"/>
              </a:lnSpc>
              <a:buNone/>
            </a:pPr>
            <a:r>
              <a:rPr lang="en-US" sz="3950" dirty="0">
                <a:solidFill>
                  <a:srgbClr val="EFD5FA"/>
                </a:solidFill>
                <a:latin typeface="Instrument Sans Medium" pitchFamily="34" charset="0"/>
                <a:ea typeface="Instrument Sans Medium" pitchFamily="34" charset="-122"/>
                <a:cs typeface="Instrument Sans Medium" pitchFamily="34" charset="-120"/>
              </a:rPr>
              <a:t>Conclusion &amp; Future Directions</a:t>
            </a:r>
            <a:endParaRPr lang="en-US" sz="3950" dirty="0"/>
          </a:p>
        </p:txBody>
      </p:sp>
      <p:sp>
        <p:nvSpPr>
          <p:cNvPr id="4" name="Text 1"/>
          <p:cNvSpPr/>
          <p:nvPr/>
        </p:nvSpPr>
        <p:spPr>
          <a:xfrm>
            <a:off x="707350" y="4072057"/>
            <a:ext cx="13215699" cy="323374"/>
          </a:xfrm>
          <a:prstGeom prst="rect">
            <a:avLst/>
          </a:prstGeom>
          <a:noFill/>
          <a:ln/>
        </p:spPr>
        <p:txBody>
          <a:bodyPr wrap="none" lIns="0" tIns="0" rIns="0" bIns="0" rtlCol="0" anchor="t"/>
          <a:lstStyle/>
          <a:p>
            <a:pPr marL="0" indent="0" algn="l">
              <a:lnSpc>
                <a:spcPts val="2500"/>
              </a:lnSpc>
              <a:buNone/>
            </a:pPr>
            <a:r>
              <a:rPr lang="en-US" sz="1550" dirty="0">
                <a:solidFill>
                  <a:srgbClr val="C7CDD6"/>
                </a:solidFill>
                <a:latin typeface="Inter" pitchFamily="34" charset="0"/>
                <a:ea typeface="Inter" pitchFamily="34" charset="-122"/>
                <a:cs typeface="Inter" pitchFamily="34" charset="-120"/>
              </a:rPr>
              <a:t>This project provided valuable insights into model selection and optimization under resource constraints.</a:t>
            </a:r>
            <a:endParaRPr lang="en-US" sz="155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7350" y="4647962"/>
            <a:ext cx="202049" cy="202049"/>
          </a:xfrm>
          <a:prstGeom prst="rect">
            <a:avLst/>
          </a:prstGeom>
        </p:spPr>
      </p:pic>
      <p:sp>
        <p:nvSpPr>
          <p:cNvPr id="6" name="Shape 2"/>
          <p:cNvSpPr/>
          <p:nvPr/>
        </p:nvSpPr>
        <p:spPr>
          <a:xfrm>
            <a:off x="707350" y="4943237"/>
            <a:ext cx="4270534" cy="22860"/>
          </a:xfrm>
          <a:prstGeom prst="rect">
            <a:avLst/>
          </a:prstGeom>
          <a:solidFill>
            <a:srgbClr val="FDC4C4"/>
          </a:solidFill>
          <a:ln/>
        </p:spPr>
      </p:sp>
      <p:sp>
        <p:nvSpPr>
          <p:cNvPr id="7" name="Text 3"/>
          <p:cNvSpPr/>
          <p:nvPr/>
        </p:nvSpPr>
        <p:spPr>
          <a:xfrm>
            <a:off x="707350" y="5089922"/>
            <a:ext cx="4215289" cy="315754"/>
          </a:xfrm>
          <a:prstGeom prst="rect">
            <a:avLst/>
          </a:prstGeom>
          <a:noFill/>
          <a:ln/>
        </p:spPr>
        <p:txBody>
          <a:bodyPr wrap="none" lIns="0" tIns="0" rIns="0" bIns="0" rtlCol="0" anchor="t"/>
          <a:lstStyle/>
          <a:p>
            <a:pPr marL="0" indent="0" algn="l">
              <a:lnSpc>
                <a:spcPts val="2450"/>
              </a:lnSpc>
              <a:buNone/>
            </a:pPr>
            <a:r>
              <a:rPr lang="en-US" sz="1950" dirty="0">
                <a:solidFill>
                  <a:srgbClr val="C7CDD6"/>
                </a:solidFill>
                <a:latin typeface="Instrument Sans Medium" pitchFamily="34" charset="0"/>
                <a:ea typeface="Instrument Sans Medium" pitchFamily="34" charset="-122"/>
                <a:cs typeface="Instrument Sans Medium" pitchFamily="34" charset="-120"/>
              </a:rPr>
              <a:t>Not All Tasks Require Deep Learning</a:t>
            </a:r>
            <a:endParaRPr lang="en-US" sz="1950" dirty="0"/>
          </a:p>
        </p:txBody>
      </p:sp>
      <p:sp>
        <p:nvSpPr>
          <p:cNvPr id="8" name="Text 4"/>
          <p:cNvSpPr/>
          <p:nvPr/>
        </p:nvSpPr>
        <p:spPr>
          <a:xfrm>
            <a:off x="707350" y="5526881"/>
            <a:ext cx="4270534" cy="1616869"/>
          </a:xfrm>
          <a:prstGeom prst="rect">
            <a:avLst/>
          </a:prstGeom>
          <a:noFill/>
          <a:ln/>
        </p:spPr>
        <p:txBody>
          <a:bodyPr wrap="square" lIns="0" tIns="0" rIns="0" bIns="0" rtlCol="0" anchor="t"/>
          <a:lstStyle/>
          <a:p>
            <a:pPr marL="0" indent="0" algn="l">
              <a:lnSpc>
                <a:spcPts val="2500"/>
              </a:lnSpc>
              <a:buNone/>
            </a:pPr>
            <a:r>
              <a:rPr lang="en-US" sz="1550" dirty="0">
                <a:solidFill>
                  <a:srgbClr val="C7CDD6"/>
                </a:solidFill>
                <a:latin typeface="Inter" pitchFamily="34" charset="0"/>
                <a:ea typeface="Inter" pitchFamily="34" charset="-122"/>
                <a:cs typeface="Inter" pitchFamily="34" charset="-120"/>
              </a:rPr>
              <a:t>Our findings underscore that for highly specific, structural NLP tasks, simpler, statistically-driven approaches can often outperform complex deep learning models, especially without extensive fine-tuning.</a:t>
            </a:r>
            <a:endParaRPr lang="en-US" sz="1550" dirty="0"/>
          </a:p>
        </p:txBody>
      </p:sp>
      <p:pic>
        <p:nvPicPr>
          <p:cNvPr id="9"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79933" y="4647962"/>
            <a:ext cx="202049" cy="202049"/>
          </a:xfrm>
          <a:prstGeom prst="rect">
            <a:avLst/>
          </a:prstGeom>
        </p:spPr>
      </p:pic>
      <p:sp>
        <p:nvSpPr>
          <p:cNvPr id="10" name="Shape 5"/>
          <p:cNvSpPr/>
          <p:nvPr/>
        </p:nvSpPr>
        <p:spPr>
          <a:xfrm>
            <a:off x="5179933" y="4943237"/>
            <a:ext cx="4270534" cy="22860"/>
          </a:xfrm>
          <a:prstGeom prst="rect">
            <a:avLst/>
          </a:prstGeom>
          <a:solidFill>
            <a:srgbClr val="FDC4C4"/>
          </a:solidFill>
          <a:ln/>
        </p:spPr>
      </p:sp>
      <p:sp>
        <p:nvSpPr>
          <p:cNvPr id="11" name="Text 6"/>
          <p:cNvSpPr/>
          <p:nvPr/>
        </p:nvSpPr>
        <p:spPr>
          <a:xfrm>
            <a:off x="5179933" y="5089922"/>
            <a:ext cx="3317081" cy="315754"/>
          </a:xfrm>
          <a:prstGeom prst="rect">
            <a:avLst/>
          </a:prstGeom>
          <a:noFill/>
          <a:ln/>
        </p:spPr>
        <p:txBody>
          <a:bodyPr wrap="none" lIns="0" tIns="0" rIns="0" bIns="0" rtlCol="0" anchor="t"/>
          <a:lstStyle/>
          <a:p>
            <a:pPr marL="0" indent="0" algn="l">
              <a:lnSpc>
                <a:spcPts val="2450"/>
              </a:lnSpc>
              <a:buNone/>
            </a:pPr>
            <a:r>
              <a:rPr lang="en-US" sz="1950" dirty="0">
                <a:solidFill>
                  <a:srgbClr val="C7CDD6"/>
                </a:solidFill>
                <a:latin typeface="Instrument Sans Medium" pitchFamily="34" charset="0"/>
                <a:ea typeface="Instrument Sans Medium" pitchFamily="34" charset="-122"/>
                <a:cs typeface="Instrument Sans Medium" pitchFamily="34" charset="-120"/>
              </a:rPr>
              <a:t>Resource Limitations Matter</a:t>
            </a:r>
            <a:endParaRPr lang="en-US" sz="1950" dirty="0"/>
          </a:p>
        </p:txBody>
      </p:sp>
      <p:sp>
        <p:nvSpPr>
          <p:cNvPr id="12" name="Text 7"/>
          <p:cNvSpPr/>
          <p:nvPr/>
        </p:nvSpPr>
        <p:spPr>
          <a:xfrm>
            <a:off x="5179933" y="5526881"/>
            <a:ext cx="4270534" cy="1616869"/>
          </a:xfrm>
          <a:prstGeom prst="rect">
            <a:avLst/>
          </a:prstGeom>
          <a:noFill/>
          <a:ln/>
        </p:spPr>
        <p:txBody>
          <a:bodyPr wrap="square" lIns="0" tIns="0" rIns="0" bIns="0" rtlCol="0" anchor="t"/>
          <a:lstStyle/>
          <a:p>
            <a:pPr marL="0" indent="0" algn="l">
              <a:lnSpc>
                <a:spcPts val="2500"/>
              </a:lnSpc>
              <a:buNone/>
            </a:pPr>
            <a:r>
              <a:rPr lang="en-US" sz="1550" dirty="0">
                <a:solidFill>
                  <a:srgbClr val="C7CDD6"/>
                </a:solidFill>
                <a:latin typeface="Inter" pitchFamily="34" charset="0"/>
                <a:ea typeface="Inter" pitchFamily="34" charset="-122"/>
                <a:cs typeface="Inter" pitchFamily="34" charset="-120"/>
              </a:rPr>
              <a:t>The CPU-only environment significantly impacted the Transformer's potential. Feature extraction, while useful, cannot fully unlock the model's capabilities without fine-tuning.</a:t>
            </a:r>
            <a:endParaRPr lang="en-US" sz="1550" dirty="0"/>
          </a:p>
        </p:txBody>
      </p:sp>
      <p:pic>
        <p:nvPicPr>
          <p:cNvPr id="13"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652516" y="4647962"/>
            <a:ext cx="202049" cy="202049"/>
          </a:xfrm>
          <a:prstGeom prst="rect">
            <a:avLst/>
          </a:prstGeom>
        </p:spPr>
      </p:pic>
      <p:sp>
        <p:nvSpPr>
          <p:cNvPr id="14" name="Shape 8"/>
          <p:cNvSpPr/>
          <p:nvPr/>
        </p:nvSpPr>
        <p:spPr>
          <a:xfrm>
            <a:off x="9652516" y="4943237"/>
            <a:ext cx="4270534" cy="22860"/>
          </a:xfrm>
          <a:prstGeom prst="rect">
            <a:avLst/>
          </a:prstGeom>
          <a:solidFill>
            <a:srgbClr val="FDC4C4"/>
          </a:solidFill>
          <a:ln/>
        </p:spPr>
      </p:sp>
      <p:sp>
        <p:nvSpPr>
          <p:cNvPr id="15" name="Text 9"/>
          <p:cNvSpPr/>
          <p:nvPr/>
        </p:nvSpPr>
        <p:spPr>
          <a:xfrm>
            <a:off x="9652516" y="5089922"/>
            <a:ext cx="4048601" cy="315754"/>
          </a:xfrm>
          <a:prstGeom prst="rect">
            <a:avLst/>
          </a:prstGeom>
          <a:noFill/>
          <a:ln/>
        </p:spPr>
        <p:txBody>
          <a:bodyPr wrap="none" lIns="0" tIns="0" rIns="0" bIns="0" rtlCol="0" anchor="t"/>
          <a:lstStyle/>
          <a:p>
            <a:pPr marL="0" indent="0" algn="l">
              <a:lnSpc>
                <a:spcPts val="2450"/>
              </a:lnSpc>
              <a:buNone/>
            </a:pPr>
            <a:r>
              <a:rPr lang="en-US" sz="1950" dirty="0">
                <a:solidFill>
                  <a:srgbClr val="C7CDD6"/>
                </a:solidFill>
                <a:latin typeface="Instrument Sans Medium" pitchFamily="34" charset="0"/>
                <a:ea typeface="Instrument Sans Medium" pitchFamily="34" charset="-122"/>
                <a:cs typeface="Instrument Sans Medium" pitchFamily="34" charset="-120"/>
              </a:rPr>
              <a:t>Next Steps: Fine-tuning with GPUs</a:t>
            </a:r>
            <a:endParaRPr lang="en-US" sz="1950" dirty="0"/>
          </a:p>
        </p:txBody>
      </p:sp>
      <p:sp>
        <p:nvSpPr>
          <p:cNvPr id="16" name="Text 10"/>
          <p:cNvSpPr/>
          <p:nvPr/>
        </p:nvSpPr>
        <p:spPr>
          <a:xfrm>
            <a:off x="9652516" y="5526881"/>
            <a:ext cx="4270534" cy="1940243"/>
          </a:xfrm>
          <a:prstGeom prst="rect">
            <a:avLst/>
          </a:prstGeom>
          <a:noFill/>
          <a:ln/>
        </p:spPr>
        <p:txBody>
          <a:bodyPr wrap="square" lIns="0" tIns="0" rIns="0" bIns="0" rtlCol="0" anchor="t"/>
          <a:lstStyle/>
          <a:p>
            <a:pPr marL="0" indent="0" algn="l">
              <a:lnSpc>
                <a:spcPts val="2500"/>
              </a:lnSpc>
              <a:buNone/>
            </a:pPr>
            <a:r>
              <a:rPr lang="en-US" sz="1550" dirty="0">
                <a:solidFill>
                  <a:srgbClr val="C7CDD6"/>
                </a:solidFill>
                <a:latin typeface="Inter" pitchFamily="34" charset="0"/>
                <a:ea typeface="Inter" pitchFamily="34" charset="-122"/>
                <a:cs typeface="Inter" pitchFamily="34" charset="-120"/>
              </a:rPr>
              <a:t>Future work will focus on fine-tuning a more powerful Transformer model like RoBERTa on GPU infrastructure. This is expected to yield superior performance by allowing the model to adapt its weights to the specific nuances of product title quality.</a:t>
            </a:r>
            <a:endParaRPr lang="en-US" sz="1550" dirty="0"/>
          </a:p>
        </p:txBody>
      </p:sp>
      <p:pic>
        <p:nvPicPr>
          <p:cNvPr id="17" name="Picture 16" descr="A blue and white logo&#10;&#10;AI-generated content may be incorrect.">
            <a:extLst>
              <a:ext uri="{FF2B5EF4-FFF2-40B4-BE49-F238E27FC236}">
                <a16:creationId xmlns:a16="http://schemas.microsoft.com/office/drawing/2014/main" id="{D5472DB7-8A55-34D1-DB45-132CF1C0D57D}"/>
              </a:ext>
            </a:extLst>
          </p:cNvPr>
          <p:cNvPicPr>
            <a:picLocks noChangeAspect="1"/>
          </p:cNvPicPr>
          <p:nvPr/>
        </p:nvPicPr>
        <p:blipFill>
          <a:blip r:embed="rId10"/>
          <a:stretch>
            <a:fillRect/>
          </a:stretch>
        </p:blipFill>
        <p:spPr>
          <a:xfrm>
            <a:off x="12290961" y="7618156"/>
            <a:ext cx="2339439" cy="61144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820</Words>
  <Application>Microsoft Office PowerPoint</Application>
  <PresentationFormat>Custom</PresentationFormat>
  <Paragraphs>73</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Inter</vt:lpstr>
      <vt:lpstr>Instrument Sans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Aarib Vahidy</dc:creator>
  <cp:lastModifiedBy>Aarib Vahidy</cp:lastModifiedBy>
  <cp:revision>2</cp:revision>
  <dcterms:created xsi:type="dcterms:W3CDTF">2025-12-02T14:21:16Z</dcterms:created>
  <dcterms:modified xsi:type="dcterms:W3CDTF">2025-12-02T14:51:11Z</dcterms:modified>
</cp:coreProperties>
</file>